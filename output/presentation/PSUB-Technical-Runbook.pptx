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49808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F6FAE"/>
                </a:solidFill>
                <a:latin typeface="Aptos Display"/>
              </a:rPr>
              <a:t>PSUB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3035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17212B"/>
                </a:solidFill>
                <a:latin typeface="Aptos Display"/>
              </a:rPr>
              <a:t>Technical Runbook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6136022" cy="66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26323F"/>
                </a:solidFill>
                <a:latin typeface="Aptos"/>
              </a:rPr>
              <a:t>Build Python security releases on Windows using a repeatable PSUB operator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7" y="3200400"/>
            <a:ext cx="2796475" cy="576072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4640" y="3339785"/>
            <a:ext cx="2197342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2F6FAE"/>
                </a:solidFill>
                <a:latin typeface="Aptos"/>
              </a:rPr>
              <a:t>Windows build machine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2837" y="3200400"/>
            <a:ext cx="2796474" cy="576072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4939" y="3339785"/>
            <a:ext cx="251316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2F6FAE"/>
                </a:solidFill>
                <a:latin typeface="Aptos"/>
              </a:rPr>
              <a:t>PowerShell toolkit</a:t>
            </a:r>
            <a:endParaRPr sz="950" b="1" dirty="0">
              <a:solidFill>
                <a:srgbClr val="2F6FAE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02763" y="3200400"/>
            <a:ext cx="2796474" cy="576072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DCE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4321" y="3328523"/>
            <a:ext cx="264539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2F6FAE"/>
                </a:solidFill>
                <a:latin typeface="Aptos"/>
              </a:rPr>
              <a:t>Python 3.10 / 3.11 / 3.12</a:t>
            </a:r>
            <a:endParaRPr sz="950" b="1" dirty="0">
              <a:solidFill>
                <a:srgbClr val="2F6FAE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12280" y="1143000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6FAE"/>
                </a:solidFill>
                <a:latin typeface="Aptos"/>
              </a:rPr>
              <a:t>Primary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1499616"/>
            <a:ext cx="3566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A build operator can prepare the machine, run PSUB, verify artifacts, and retain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EXECUTION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17212B"/>
                </a:solidFill>
                <a:latin typeface="Aptos Display"/>
              </a:rPr>
              <a:t>PSUB exposes two entry points into the same build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" y="2368294"/>
            <a:ext cx="2194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6FAE"/>
                </a:solidFill>
                <a:latin typeface="Aptos"/>
              </a:rPr>
              <a:t>Web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61488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3F"/>
                </a:solidFill>
                <a:latin typeface="Aptos"/>
              </a:rPr>
              <a:t>Best for manual operator runs and preflight review.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" y="4151376"/>
            <a:ext cx="2240280" cy="1298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4169663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F6FAE"/>
                </a:solidFill>
                <a:latin typeface="Aptos"/>
              </a:rPr>
              <a:t>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5371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6323F"/>
                </a:solidFill>
                <a:latin typeface="Aptos"/>
              </a:rPr>
              <a:t>Best for exact repeatability and documented command history.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99232"/>
            <a:ext cx="2377440" cy="123444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9180" y="310896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17212B"/>
                </a:solidFill>
                <a:latin typeface="Aptos"/>
              </a:rPr>
              <a:t>PSUB build 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73075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57386"/>
                </a:solidFill>
                <a:latin typeface="Consolas"/>
              </a:rPr>
              <a:t>Build-PythonRelease.ps1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999232"/>
            <a:ext cx="1783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51392" y="336499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7212B"/>
                </a:solidFill>
                <a:latin typeface="Aptos"/>
              </a:rPr>
              <a:t>Release outputs + evidence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743200"/>
            <a:ext cx="1463040" cy="68580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108960" y="3822191"/>
            <a:ext cx="1463040" cy="731521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49440" y="3621024"/>
            <a:ext cx="1691640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37760" y="4443984"/>
            <a:ext cx="1371600" cy="274320"/>
          </a:xfrm>
          <a:prstGeom prst="roundRect">
            <a:avLst/>
          </a:prstGeom>
          <a:solidFill>
            <a:srgbClr val="E4F3EA"/>
          </a:solidFill>
          <a:ln w="12700">
            <a:solidFill>
              <a:srgbClr val="E4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10912" y="4498848"/>
            <a:ext cx="12252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F8F5B"/>
                </a:solidFill>
                <a:latin typeface="Aptos"/>
              </a:rPr>
              <a:t>Same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REQUIRED MACHINE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12B"/>
                </a:solidFill>
                <a:latin typeface="Aptos Display"/>
              </a:rPr>
              <a:t>The machine must have the Windows toolchain, bootstrap Python, and source prerequisites.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283464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Visual Studio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4144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F"/>
                </a:solidFill>
                <a:latin typeface="Aptos"/>
              </a:rPr>
              <a:t>Desktop development with C++ workload.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96512" y="1929384"/>
            <a:ext cx="2871216" cy="1033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4256" y="21031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MSVC toolchains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44144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26323F"/>
                </a:solidFill>
                <a:latin typeface="Aptos"/>
              </a:rPr>
              <a:t>x64/x86 plus ARM64 components.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70064" y="1929384"/>
            <a:ext cx="2871215" cy="1033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54112" y="210312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Windows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4112" y="244144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26323F"/>
                </a:solidFill>
                <a:latin typeface="Aptos"/>
              </a:rPr>
              <a:t>10.0.19041.0 or later; Windows 11 SDK is valid.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419856"/>
            <a:ext cx="28346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Bootstrap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2277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F"/>
                </a:solidFill>
                <a:latin typeface="Aptos"/>
              </a:rPr>
              <a:t>Python 3.10 or 3.12 from python.org; not 3.13.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6512" y="3454444"/>
            <a:ext cx="287121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52544" y="3498574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7212B"/>
                </a:solidFill>
                <a:latin typeface="Aptos"/>
              </a:rPr>
              <a:t>Git for 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3757787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26323F"/>
                </a:solidFill>
                <a:latin typeface="Aptos"/>
              </a:rPr>
              <a:t>Recommended for metadata; not blocking for extracted source.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79792" y="3429000"/>
            <a:ext cx="2871216" cy="11044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54112" y="358444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.NET Framework 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3922776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F"/>
                </a:solidFill>
                <a:latin typeface="Aptos"/>
              </a:rPr>
              <a:t>Required for legacy WiX/MSI paths such as Python 3.10.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5138928"/>
            <a:ext cx="3200400" cy="274320"/>
          </a:xfrm>
          <a:prstGeom prst="roundRect">
            <a:avLst/>
          </a:prstGeom>
          <a:solidFill>
            <a:srgbClr val="F7EAD2"/>
          </a:solidFill>
          <a:ln w="12700">
            <a:solidFill>
              <a:srgbClr val="F7E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13632" y="5152978"/>
            <a:ext cx="305409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A86A12"/>
                </a:solidFill>
                <a:latin typeface="Aptos"/>
              </a:rPr>
              <a:t>Git is recommended, not a readiness blocker</a:t>
            </a:r>
            <a:endParaRPr sz="950" b="1" dirty="0">
              <a:solidFill>
                <a:srgbClr val="A86A12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CLONE AND PROJECT 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12B"/>
                </a:solidFill>
                <a:latin typeface="Aptos Display"/>
              </a:rPr>
              <a:t>Run PSUB from the repository root and keep the expected folders together.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029968"/>
            <a:ext cx="5852160" cy="960120"/>
          </a:xfrm>
          <a:prstGeom prst="roundRect">
            <a:avLst/>
          </a:prstGeom>
          <a:solidFill>
            <a:srgbClr val="16212C"/>
          </a:solidFill>
          <a:ln w="12700">
            <a:solidFill>
              <a:srgbClr val="16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552297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Consolas"/>
              </a:rPr>
              <a:t>git clone https://github.com/patrikkarlsson72/psub.git
cd psub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3401568"/>
            <a:ext cx="585216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3657600"/>
            <a:ext cx="2286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Required relative layout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402336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3F"/>
                </a:solidFill>
                <a:latin typeface="Consolas"/>
              </a:rPr>
              <a:t>PSUB/
|-- Script/
|-- documentation/
`-- assets/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7728" y="2029968"/>
            <a:ext cx="4023360" cy="475488"/>
          </a:xfrm>
          <a:prstGeom prst="rect">
            <a:avLst/>
          </a:prstGeom>
          <a:solidFill>
            <a:srgbClr val="E6EDF5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80" y="2103120"/>
            <a:ext cx="11338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212B"/>
                </a:solidFill>
                <a:latin typeface="Aptos"/>
              </a:rPr>
              <a:t>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212B"/>
                </a:solidFill>
                <a:latin typeface="Aptos"/>
              </a:rPr>
              <a:t>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7728" y="250545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40880" y="2578608"/>
            <a:ext cx="11338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578608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PowerShell entry points for UI, CLI build, and evidence capture.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67728" y="2980944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0" y="3054096"/>
            <a:ext cx="11338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documentation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054096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Operator setup guides, runbook, and troubleshooting notes.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67728" y="345643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3529584"/>
            <a:ext cx="113385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assets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529584"/>
            <a:ext cx="25968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Static project assets used by the UI and presentation material.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PREPARE CPYTHON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dirty="0">
                <a:solidFill>
                  <a:srgbClr val="17212B"/>
                </a:solidFill>
                <a:latin typeface="Aptos Display"/>
              </a:rPr>
              <a:t>PSUB builds from a local </a:t>
            </a:r>
            <a:r>
              <a:rPr sz="3000" b="1" dirty="0" err="1">
                <a:solidFill>
                  <a:srgbClr val="17212B"/>
                </a:solidFill>
                <a:latin typeface="Aptos Display"/>
              </a:rPr>
              <a:t>CPython</a:t>
            </a:r>
            <a:r>
              <a:rPr sz="3000" b="1" dirty="0">
                <a:solidFill>
                  <a:srgbClr val="17212B"/>
                </a:solidFill>
                <a:latin typeface="Aptos Display"/>
              </a:rPr>
              <a:t> source tree, not from prebuilt binaries.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993392"/>
            <a:ext cx="5852160" cy="658368"/>
          </a:xfrm>
          <a:prstGeom prst="roundRect">
            <a:avLst/>
          </a:prstGeom>
          <a:solidFill>
            <a:srgbClr val="16212C"/>
          </a:solidFill>
          <a:ln w="12700">
            <a:solidFill>
              <a:srgbClr val="16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157984"/>
            <a:ext cx="552297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Consolas"/>
              </a:rPr>
              <a:t>C:\src\Python-3.11.14\Python-3.11.14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3054096"/>
            <a:ext cx="5852160" cy="1883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9264" y="3401568"/>
            <a:ext cx="310896" cy="310896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3465576"/>
            <a:ext cx="310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01568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Download source archive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657600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386"/>
                </a:solidFill>
                <a:latin typeface="Aptos"/>
              </a:rPr>
              <a:t>Use the target release line from python.org.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4133087"/>
            <a:ext cx="310896" cy="310896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4197096"/>
            <a:ext cx="31089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4133087"/>
            <a:ext cx="4572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Verify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4389120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57386"/>
                </a:solidFill>
                <a:latin typeface="Aptos"/>
              </a:rPr>
              <a:t>Keep source URLs, hashes, and signature results with the run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93392"/>
            <a:ext cx="2377440" cy="278892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79" y="2304288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Expected source folders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2834640"/>
            <a:ext cx="1828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6323F"/>
                </a:solidFill>
                <a:latin typeface="Consolas"/>
              </a:rPr>
              <a:t>PCbuild
Tools\msi
Doc\requirements.txt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4279392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57386"/>
                </a:solidFill>
                <a:latin typeface="Aptos"/>
              </a:rPr>
              <a:t>Validate these before starting a long build.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START THE WEB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12B"/>
                </a:solidFill>
                <a:latin typeface="Aptos Display"/>
              </a:rPr>
              <a:t>Use the UI when the operator needs preflight visibility before launching the build.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029968"/>
            <a:ext cx="7040880" cy="713232"/>
          </a:xfrm>
          <a:prstGeom prst="roundRect">
            <a:avLst/>
          </a:prstGeom>
          <a:solidFill>
            <a:srgbClr val="16212C"/>
          </a:solidFill>
          <a:ln w="12700">
            <a:solidFill>
              <a:srgbClr val="16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194560"/>
            <a:ext cx="671169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F4F8FC"/>
                </a:solidFill>
                <a:latin typeface="Consolas"/>
              </a:rPr>
              <a:t>.\Script\Build-PythonRelease-UI-Simple.ps1</a:t>
            </a:r>
            <a:endParaRPr sz="1400" b="0" dirty="0">
              <a:solidFill>
                <a:srgbClr val="F4F8FC"/>
              </a:solidFill>
              <a:latin typeface="Consola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6384" y="3154680"/>
            <a:ext cx="70408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1560" y="3593592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39" y="3469142"/>
            <a:ext cx="60350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0">
                <a:solidFill>
                  <a:srgbClr val="26323F"/>
                </a:solidFill>
                <a:latin typeface="Aptos"/>
              </a:rPr>
              <a:t>PSUB automatically tries port 8080 first, then falls back to a free localhost port if 8080 is unavailable.</a:t>
            </a:r>
            <a:endParaRPr sz="1400" b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051560" y="4014216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39" y="3941064"/>
            <a:ext cx="6035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6323F"/>
                </a:solidFill>
                <a:latin typeface="Aptos"/>
              </a:rPr>
              <a:t>The script opens the browser or prints the correct URL in the console.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434840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39" y="4361688"/>
            <a:ext cx="6035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26323F"/>
                </a:solidFill>
                <a:latin typeface="Aptos"/>
              </a:rPr>
              <a:t>Build helper files and logs are written under the repository logs folder.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2029968"/>
            <a:ext cx="2587752" cy="2816352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C4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49379" y="2393740"/>
            <a:ext cx="154255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2F6FAE"/>
                </a:solidFill>
                <a:latin typeface="Aptos"/>
              </a:rPr>
              <a:t>Operator rule</a:t>
            </a:r>
            <a:endParaRPr sz="1400" b="1" dirty="0">
              <a:solidFill>
                <a:srgbClr val="2F6FAE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96527" y="2971800"/>
            <a:ext cx="2161033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7212B"/>
                </a:solidFill>
                <a:latin typeface="Aptos"/>
              </a:rPr>
              <a:t>Check prerequisites before starting a long build</a:t>
            </a:r>
            <a:r>
              <a:rPr lang="sv-SE" sz="1600" b="1" dirty="0">
                <a:solidFill>
                  <a:srgbClr val="17212B"/>
                </a:solidFill>
                <a:latin typeface="Aptos"/>
              </a:rPr>
              <a:t>!</a:t>
            </a:r>
            <a:endParaRPr sz="1600" b="1" dirty="0">
              <a:solidFill>
                <a:srgbClr val="17212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PREFLIGHT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17212B"/>
                </a:solidFill>
                <a:latin typeface="Aptos Display"/>
              </a:rPr>
              <a:t>The operator verifies readiness before spending time on a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7863840" cy="475488"/>
          </a:xfrm>
          <a:prstGeom prst="rect">
            <a:avLst/>
          </a:prstGeom>
          <a:solidFill>
            <a:srgbClr val="E6EDF5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19" y="1947672"/>
            <a:ext cx="177393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212B"/>
                </a:solidFill>
                <a:latin typeface="Aptos"/>
              </a:rPr>
              <a:t>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947672"/>
            <a:ext cx="5797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212B"/>
                </a:solidFill>
                <a:latin typeface="Aptos"/>
              </a:rPr>
              <a:t>Expected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50008"/>
            <a:ext cx="7863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" y="2423160"/>
            <a:ext cx="177393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Visual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423160"/>
            <a:ext cx="5797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2019 or 2022 detected with required C++ components.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25496"/>
            <a:ext cx="7863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2898648"/>
            <a:ext cx="177393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Windows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898648"/>
            <a:ext cx="5797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Installed SDK version is detected and can be prefilled.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7863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" y="3374136"/>
            <a:ext cx="177393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Bootstrap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430058"/>
            <a:ext cx="5797296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050" b="0">
                <a:solidFill>
                  <a:srgbClr val="26323F"/>
                </a:solidFill>
                <a:latin typeface="Aptos"/>
              </a:rPr>
              <a:t>Python 3.10 or 3.12 from python.org (not a WindowsApps alias).</a:t>
            </a:r>
            <a:endParaRPr sz="1050" b="0">
              <a:solidFill>
                <a:srgbClr val="26323F"/>
              </a:solidFill>
              <a:latin typeface="Apto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8368" y="3776472"/>
            <a:ext cx="7863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19" y="3849624"/>
            <a:ext cx="177393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Git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849624"/>
            <a:ext cx="5797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Detected when available; warning only if missing.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51960"/>
            <a:ext cx="7863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" y="4325112"/>
            <a:ext cx="177393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.NET 3.5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325112"/>
            <a:ext cx="579729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Enabled when the target path needs legacy WiX/MSI support.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32496" y="3660184"/>
            <a:ext cx="3216320" cy="1011885"/>
          </a:xfrm>
          <a:prstGeom prst="roundRect">
            <a:avLst/>
          </a:prstGeom>
          <a:solidFill>
            <a:srgbClr val="F5E2DF"/>
          </a:solidFill>
          <a:ln w="12700">
            <a:solidFill>
              <a:srgbClr val="E0BC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70625" y="3641092"/>
            <a:ext cx="205879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sv-SE" sz="1600" b="1" dirty="0">
                <a:solidFill>
                  <a:srgbClr val="B64D44"/>
                </a:solidFill>
                <a:latin typeface="Aptos"/>
              </a:rPr>
              <a:t>Not </a:t>
            </a:r>
            <a:r>
              <a:rPr lang="sv-SE" sz="1600" b="1" dirty="0" err="1">
                <a:solidFill>
                  <a:srgbClr val="B64D44"/>
                </a:solidFill>
                <a:latin typeface="Aptos"/>
              </a:rPr>
              <a:t>recommended</a:t>
            </a:r>
            <a:endParaRPr sz="1500" b="1" dirty="0">
              <a:solidFill>
                <a:srgbClr val="B64D44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83625" y="4048113"/>
            <a:ext cx="2350007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sv-SE" sz="1000" b="0" dirty="0">
                <a:solidFill>
                  <a:srgbClr val="17212B"/>
                </a:solidFill>
                <a:latin typeface="Consolas"/>
              </a:rPr>
              <a:t>%LOCALAPPDATA%\Microsoft\</a:t>
            </a:r>
            <a:r>
              <a:rPr lang="sv-SE" sz="1000" b="0" dirty="0" err="1">
                <a:solidFill>
                  <a:srgbClr val="17212B"/>
                </a:solidFill>
                <a:latin typeface="Consolas"/>
              </a:rPr>
              <a:t>WindowsApps</a:t>
            </a:r>
            <a:r>
              <a:rPr lang="sv-SE" sz="1000" b="0" dirty="0">
                <a:solidFill>
                  <a:srgbClr val="17212B"/>
                </a:solidFill>
                <a:latin typeface="Consolas"/>
              </a:rPr>
              <a:t>\python.exe</a:t>
            </a:r>
          </a:p>
          <a:p>
            <a:pPr algn="ctr"/>
            <a:r>
              <a:rPr lang="sv-SE" sz="1000" b="0" dirty="0">
                <a:solidFill>
                  <a:srgbClr val="17212B"/>
                </a:solidFill>
                <a:latin typeface="Consolas"/>
              </a:rPr>
              <a:t>(Windows </a:t>
            </a:r>
            <a:r>
              <a:rPr lang="sv-SE" sz="1000" b="0" dirty="0" err="1">
                <a:solidFill>
                  <a:srgbClr val="17212B"/>
                </a:solidFill>
                <a:latin typeface="Consolas"/>
              </a:rPr>
              <a:t>app</a:t>
            </a:r>
            <a:r>
              <a:rPr lang="sv-SE" sz="1000" b="0" dirty="0">
                <a:solidFill>
                  <a:srgbClr val="17212B"/>
                </a:solidFill>
                <a:latin typeface="Consolas"/>
              </a:rPr>
              <a:t> alias)</a:t>
            </a:r>
            <a:endParaRPr sz="1000" b="0" dirty="0">
              <a:solidFill>
                <a:srgbClr val="17212B"/>
              </a:solidFill>
              <a:latin typeface="Consola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832496" y="1897604"/>
            <a:ext cx="3216320" cy="891316"/>
          </a:xfrm>
          <a:prstGeom prst="roundRect">
            <a:avLst/>
          </a:prstGeom>
          <a:solidFill>
            <a:srgbClr val="E4F3EA"/>
          </a:solidFill>
          <a:ln w="12700">
            <a:solidFill>
              <a:srgbClr val="E4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8745040" y="1894123"/>
            <a:ext cx="3391232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400" b="1" dirty="0">
                <a:solidFill>
                  <a:srgbClr val="2F8F5B"/>
                </a:solidFill>
                <a:latin typeface="Aptos"/>
              </a:rPr>
              <a:t>Recommended </a:t>
            </a:r>
          </a:p>
          <a:p>
            <a:pPr algn="ctr"/>
            <a:endParaRPr lang="en-US" sz="1400" b="1" dirty="0">
              <a:solidFill>
                <a:srgbClr val="2F8F5B"/>
              </a:solidFill>
              <a:latin typeface="Aptos"/>
            </a:endParaRPr>
          </a:p>
          <a:p>
            <a:pPr algn="ctr"/>
            <a:r>
              <a:rPr lang="en-US" sz="1400" b="1" dirty="0">
                <a:solidFill>
                  <a:srgbClr val="2F8F5B"/>
                </a:solidFill>
                <a:latin typeface="Aptos"/>
              </a:rPr>
              <a:t>Python 3.10/3.12 from python.org</a:t>
            </a:r>
            <a:endParaRPr sz="950" b="1" dirty="0">
              <a:solidFill>
                <a:srgbClr val="2F8F5B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RUN THE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12B"/>
                </a:solidFill>
                <a:latin typeface="Aptos Display"/>
              </a:rPr>
              <a:t>The CLI command is the exact, repeatable build invocation behind the operator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993392"/>
            <a:ext cx="7132320" cy="1097280"/>
          </a:xfrm>
          <a:prstGeom prst="roundRect">
            <a:avLst/>
          </a:prstGeom>
          <a:solidFill>
            <a:srgbClr val="16212C"/>
          </a:solidFill>
          <a:ln w="12700">
            <a:solidFill>
              <a:srgbClr val="16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157984"/>
            <a:ext cx="6803136" cy="8046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Consolas"/>
              </a:rPr>
              <a:t>.\Script\Build-PythonRelease.ps1 \
  -SourcePath "C:\src\Python-&lt;version&gt;\Python-&lt;version&gt;"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3400773"/>
            <a:ext cx="761695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0431" y="3512090"/>
            <a:ext cx="2821123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7212B"/>
                </a:solidFill>
                <a:latin typeface="Aptos"/>
              </a:rPr>
              <a:t>Common optional parameters</a:t>
            </a:r>
          </a:p>
        </p:txBody>
      </p:sp>
      <p:sp>
        <p:nvSpPr>
          <p:cNvPr id="14" name="Oval 13"/>
          <p:cNvSpPr/>
          <p:nvPr/>
        </p:nvSpPr>
        <p:spPr>
          <a:xfrm>
            <a:off x="1019357" y="4024155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70432" y="3918345"/>
            <a:ext cx="5669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26323F"/>
                </a:solidFill>
                <a:latin typeface="Aptos"/>
              </a:rPr>
              <a:t>-</a:t>
            </a:r>
            <a:r>
              <a:rPr sz="1250" b="0" dirty="0" err="1">
                <a:solidFill>
                  <a:srgbClr val="26323F"/>
                </a:solidFill>
                <a:latin typeface="Aptos"/>
              </a:rPr>
              <a:t>BootstrapPython</a:t>
            </a:r>
            <a:r>
              <a:rPr sz="1250" b="0" dirty="0">
                <a:solidFill>
                  <a:srgbClr val="26323F"/>
                </a:solidFill>
                <a:latin typeface="Aptos"/>
              </a:rPr>
              <a:t>: explicit helper Python executable.</a:t>
            </a:r>
          </a:p>
        </p:txBody>
      </p:sp>
      <p:sp>
        <p:nvSpPr>
          <p:cNvPr id="16" name="Oval 15"/>
          <p:cNvSpPr/>
          <p:nvPr/>
        </p:nvSpPr>
        <p:spPr>
          <a:xfrm>
            <a:off x="1014984" y="4371627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242816"/>
            <a:ext cx="5669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26323F"/>
                </a:solidFill>
                <a:latin typeface="Aptos"/>
              </a:rPr>
              <a:t>-</a:t>
            </a:r>
            <a:r>
              <a:rPr sz="1250" b="0" dirty="0" err="1">
                <a:solidFill>
                  <a:srgbClr val="26323F"/>
                </a:solidFill>
                <a:latin typeface="Aptos"/>
              </a:rPr>
              <a:t>ReleaseRoot</a:t>
            </a:r>
            <a:r>
              <a:rPr sz="1250" b="0" dirty="0">
                <a:solidFill>
                  <a:srgbClr val="26323F"/>
                </a:solidFill>
                <a:latin typeface="Aptos"/>
              </a:rPr>
              <a:t>: collected release output location.</a:t>
            </a:r>
          </a:p>
        </p:txBody>
      </p:sp>
      <p:sp>
        <p:nvSpPr>
          <p:cNvPr id="18" name="Oval 17"/>
          <p:cNvSpPr/>
          <p:nvPr/>
        </p:nvSpPr>
        <p:spPr>
          <a:xfrm>
            <a:off x="1011405" y="4659010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56914" y="4549282"/>
            <a:ext cx="5669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26323F"/>
                </a:solidFill>
                <a:latin typeface="Aptos"/>
              </a:rPr>
              <a:t>-</a:t>
            </a:r>
            <a:r>
              <a:rPr sz="1250" b="0" dirty="0" err="1">
                <a:solidFill>
                  <a:srgbClr val="26323F"/>
                </a:solidFill>
                <a:latin typeface="Aptos"/>
              </a:rPr>
              <a:t>WinSdkVersion</a:t>
            </a:r>
            <a:r>
              <a:rPr sz="1250" b="0" dirty="0">
                <a:solidFill>
                  <a:srgbClr val="26323F"/>
                </a:solidFill>
                <a:latin typeface="Aptos"/>
              </a:rPr>
              <a:t>: request a specific installed SDK version.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39" y="1993392"/>
            <a:ext cx="2947417" cy="1924953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68264" y="2304288"/>
            <a:ext cx="1870544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17212B"/>
                </a:solidFill>
                <a:latin typeface="Aptos"/>
              </a:rPr>
              <a:t>Expected behavior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659785"/>
            <a:ext cx="2340864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dirty="0">
                <a:solidFill>
                  <a:srgbClr val="26323F"/>
                </a:solidFill>
                <a:latin typeface="Aptos"/>
              </a:rPr>
              <a:t>PSUB detects Visual Studio, imports vcvars64.bat, and proceeds into </a:t>
            </a:r>
            <a:r>
              <a:rPr sz="1250" b="0" dirty="0" err="1">
                <a:solidFill>
                  <a:srgbClr val="26323F"/>
                </a:solidFill>
                <a:latin typeface="Aptos"/>
              </a:rPr>
              <a:t>PCbuild</a:t>
            </a:r>
            <a:r>
              <a:rPr sz="1250" b="0" dirty="0">
                <a:solidFill>
                  <a:srgbClr val="26323F"/>
                </a:solidFill>
                <a:latin typeface="Aptos"/>
              </a:rPr>
              <a:t> and Tools\</a:t>
            </a:r>
            <a:r>
              <a:rPr sz="1250" b="0" dirty="0" err="1">
                <a:solidFill>
                  <a:srgbClr val="26323F"/>
                </a:solidFill>
                <a:latin typeface="Aptos"/>
              </a:rPr>
              <a:t>msi</a:t>
            </a:r>
            <a:r>
              <a:rPr sz="1250" b="0" dirty="0">
                <a:solidFill>
                  <a:srgbClr val="26323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BUILD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12B"/>
                </a:solidFill>
                <a:latin typeface="Aptos Display"/>
              </a:rPr>
              <a:t>The operator flow moves through validation, toolchain setup, compilation, packaging, and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12848"/>
            <a:ext cx="98755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432304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ptos"/>
              </a:rPr>
              <a:t>Source
validation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2633472"/>
            <a:ext cx="429768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57400" y="2212848"/>
            <a:ext cx="987552" cy="82296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30552" y="2432304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ptos"/>
              </a:rPr>
              <a:t>VS
environment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44952" y="2633472"/>
            <a:ext cx="429768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47872" y="2212848"/>
            <a:ext cx="98755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2432304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ptos"/>
              </a:rPr>
              <a:t>Externals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35424" y="2633472"/>
            <a:ext cx="429768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47488" y="2212848"/>
            <a:ext cx="987552" cy="82296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432304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ptos"/>
              </a:rPr>
              <a:t>Docs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35040" y="2633472"/>
            <a:ext cx="429767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537960" y="2212848"/>
            <a:ext cx="98755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11112" y="2432304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ptos"/>
              </a:rPr>
              <a:t>PCbuild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25512" y="2633472"/>
            <a:ext cx="429768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28431" y="2212848"/>
            <a:ext cx="987552" cy="82296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01583" y="2432304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ptos"/>
              </a:rPr>
              <a:t>MSI / release
packaging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15984" y="2633472"/>
            <a:ext cx="429768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528048" y="2212848"/>
            <a:ext cx="987552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0" y="2432304"/>
            <a:ext cx="8412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7212B"/>
                </a:solidFill>
                <a:latin typeface="Aptos"/>
              </a:rPr>
              <a:t>Evidence
capture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25880" y="3977639"/>
            <a:ext cx="7993049" cy="1192668"/>
          </a:xfrm>
          <a:prstGeom prst="roundRect">
            <a:avLst/>
          </a:prstGeom>
          <a:solidFill>
            <a:srgbClr val="DCEBFA"/>
          </a:solidFill>
          <a:ln w="12700">
            <a:solidFill>
              <a:srgbClr val="C4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00199" y="4187952"/>
            <a:ext cx="366356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2F6FAE"/>
                </a:solidFill>
                <a:latin typeface="Aptos"/>
              </a:rPr>
              <a:t>Version-specific documentation handling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535424"/>
            <a:ext cx="7315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6323F"/>
                </a:solidFill>
                <a:latin typeface="Aptos"/>
              </a:rPr>
              <a:t>Python 3.10 expects compiled HTML Help output; Python 3.11 and 3.12 expect HTML documentation output. PSUB selects the correct documentation build mode before MSI packaging.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BUILD PIPELINE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31954"/>
            <a:ext cx="1027785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7212B"/>
                </a:solidFill>
                <a:latin typeface="Aptos Display"/>
              </a:rPr>
              <a:t>Each pipeline stage prepares one requirement for a repeatable release build.</a:t>
            </a:r>
            <a:endParaRPr sz="2800" b="1" dirty="0">
              <a:solidFill>
                <a:srgbClr val="17212B"/>
              </a:solidFill>
              <a:latin typeface="Aptos Display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1755648"/>
            <a:ext cx="10652760" cy="493776"/>
          </a:xfrm>
          <a:prstGeom prst="rect">
            <a:avLst/>
          </a:prstGeom>
          <a:solidFill>
            <a:srgbClr val="E6EDF5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856231"/>
            <a:ext cx="23957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856231"/>
            <a:ext cx="7744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17212B"/>
                </a:solidFill>
                <a:latin typeface="Aptos"/>
              </a:rPr>
              <a:t>What it does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9424"/>
            <a:ext cx="10652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350008"/>
            <a:ext cx="23957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6323F"/>
                </a:solidFill>
                <a:latin typeface="Aptos"/>
              </a:rPr>
              <a:t>Source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2350008"/>
            <a:ext cx="7744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6323F"/>
                </a:solidFill>
                <a:latin typeface="Aptos"/>
              </a:rPr>
              <a:t>Confirms the CPython source tree exists and contains PCbuild, Tools\msi, and Doc\requirements.txt.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743200"/>
            <a:ext cx="10652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2843784"/>
            <a:ext cx="23957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6323F"/>
                </a:solidFill>
                <a:latin typeface="Aptos"/>
              </a:rPr>
              <a:t>VS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843784"/>
            <a:ext cx="7744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6323F"/>
                </a:solidFill>
                <a:latin typeface="Aptos"/>
              </a:rPr>
              <a:t>Detects Visual Studio and loads the compiler environment through vcvars64.bat.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236976"/>
            <a:ext cx="10652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337560"/>
            <a:ext cx="23957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6323F"/>
                </a:solidFill>
                <a:latin typeface="Aptos"/>
              </a:rPr>
              <a:t>Externals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337560"/>
            <a:ext cx="7744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6323F"/>
                </a:solidFill>
                <a:latin typeface="Aptos"/>
              </a:rPr>
              <a:t>Downloads or refreshes CPython external dependencies required by the build and installer steps.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0752"/>
            <a:ext cx="10652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831336"/>
            <a:ext cx="23957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6323F"/>
                </a:solidFill>
                <a:latin typeface="Aptos"/>
              </a:rPr>
              <a:t>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3831336"/>
            <a:ext cx="7744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6323F"/>
                </a:solidFill>
                <a:latin typeface="Aptos"/>
              </a:rPr>
              <a:t>Builds the documentation format required by the target Python version.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24528"/>
            <a:ext cx="10652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4325112"/>
            <a:ext cx="23957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6323F"/>
                </a:solidFill>
                <a:latin typeface="Aptos"/>
              </a:rPr>
              <a:t>PCbuild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56432" y="4325112"/>
            <a:ext cx="7744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6323F"/>
                </a:solidFill>
                <a:latin typeface="Aptos"/>
              </a:rPr>
              <a:t>Compiles the CPython binaries for the selected architecture.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718304"/>
            <a:ext cx="10652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4818888"/>
            <a:ext cx="23957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6323F"/>
                </a:solidFill>
                <a:latin typeface="Aptos"/>
              </a:rPr>
              <a:t>MSI / release packaging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4818888"/>
            <a:ext cx="7744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6323F"/>
                </a:solidFill>
                <a:latin typeface="Aptos"/>
              </a:rPr>
              <a:t>Runs the Windows installer packaging flow and collects installer artifacts.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12080"/>
            <a:ext cx="10652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312664"/>
            <a:ext cx="239572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26323F"/>
                </a:solidFill>
                <a:latin typeface="Aptos"/>
              </a:rPr>
              <a:t>Evidence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432" y="5312664"/>
            <a:ext cx="7744968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26323F"/>
                </a:solidFill>
                <a:latin typeface="Aptos"/>
              </a:rPr>
              <a:t>Records build metadata, artifact checksums, environment details, and summary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12B"/>
                </a:solidFill>
                <a:latin typeface="Aptos Display"/>
              </a:rPr>
              <a:t>A successful run produces installer artifacts and a collected release archive.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9052560" cy="566928"/>
          </a:xfrm>
          <a:prstGeom prst="rect">
            <a:avLst/>
          </a:prstGeom>
          <a:solidFill>
            <a:srgbClr val="E6EDF5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1" y="2066544"/>
            <a:ext cx="24140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212B"/>
                </a:solidFill>
                <a:latin typeface="Aptos"/>
              </a:rPr>
              <a:t>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2066544"/>
            <a:ext cx="3054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212B"/>
                </a:solidFill>
                <a:latin typeface="Aptos"/>
              </a:rPr>
              <a:t>Location /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066544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7212B"/>
                </a:solidFill>
                <a:latin typeface="Aptos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9052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1" y="2633472"/>
            <a:ext cx="24140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python-&lt;version&gt;-amd64.exe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633472"/>
            <a:ext cx="3054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PCbuild\amd64\en-us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633472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Windows installer executable.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27248"/>
            <a:ext cx="9052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1" y="3200400"/>
            <a:ext cx="24140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*.msi packages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3200400"/>
            <a:ext cx="3054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PCbuild\amd64\en-us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00400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Core, pip, path, tcltk, dev, and doc MSI outputs.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94176"/>
            <a:ext cx="9052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1" y="3767328"/>
            <a:ext cx="24140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python-&lt;version&gt;-embed-amd64.zip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3552" y="3767328"/>
            <a:ext cx="3054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PCbuild\amd64\en-us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767328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Embeddable Python distribution.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261104"/>
            <a:ext cx="90525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1" y="4334256"/>
            <a:ext cx="241401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Python-&lt;version&gt;_&lt;timestamp&gt;.zip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3552" y="4334256"/>
            <a:ext cx="30540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ReleaseRoot, e.g. C:\python-releases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334256"/>
            <a:ext cx="31455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26323F"/>
                </a:solidFill>
                <a:latin typeface="Aptos"/>
              </a:rPr>
              <a:t>Collected PSUB release archive.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76272" y="5230368"/>
            <a:ext cx="6035040" cy="274320"/>
          </a:xfrm>
          <a:prstGeom prst="roundRect">
            <a:avLst/>
          </a:prstGeom>
          <a:solidFill>
            <a:srgbClr val="E4F3EA"/>
          </a:solidFill>
          <a:ln w="12700">
            <a:solidFill>
              <a:srgbClr val="E4F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49424" y="5285231"/>
            <a:ext cx="588873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50" b="1">
                <a:solidFill>
                  <a:srgbClr val="2F8F5B"/>
                </a:solidFill>
                <a:latin typeface="Aptos"/>
              </a:rPr>
              <a:t>Record the final output path and release zip name in the run evidence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EVIDENCE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12B"/>
                </a:solidFill>
                <a:latin typeface="Aptos Display"/>
              </a:rPr>
              <a:t>Build evidence is captured automatically after a successful build and can be rerun manually.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956816"/>
            <a:ext cx="3749039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231136"/>
            <a:ext cx="1828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Evidence contents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" y="2688336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2615184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323F"/>
                </a:solidFill>
                <a:latin typeface="Aptos"/>
              </a:rPr>
              <a:t>Build metadata and command context.</a:t>
            </a:r>
          </a:p>
        </p:txBody>
      </p:sp>
      <p:sp>
        <p:nvSpPr>
          <p:cNvPr id="14" name="Oval 13"/>
          <p:cNvSpPr/>
          <p:nvPr/>
        </p:nvSpPr>
        <p:spPr>
          <a:xfrm>
            <a:off x="969264" y="3072384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52144" y="2999232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323F"/>
                </a:solidFill>
                <a:latin typeface="Aptos"/>
              </a:rPr>
              <a:t>pip freeze from the relevant environment.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3456432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2144" y="3383279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323F"/>
                </a:solidFill>
                <a:latin typeface="Aptos"/>
              </a:rPr>
              <a:t>SHA256 checksums for release artifacts.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" y="3840480"/>
            <a:ext cx="73152" cy="73152"/>
          </a:xfrm>
          <a:prstGeom prst="ellips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52144" y="3767328"/>
            <a:ext cx="2926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6323F"/>
                </a:solidFill>
                <a:latin typeface="Aptos"/>
              </a:rPr>
              <a:t>summary.html for reviewer-friendly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2176272"/>
            <a:ext cx="5029200" cy="1572768"/>
          </a:xfrm>
          <a:prstGeom prst="roundRect">
            <a:avLst/>
          </a:prstGeom>
          <a:solidFill>
            <a:srgbClr val="16212C"/>
          </a:solidFill>
          <a:ln w="12700">
            <a:solidFill>
              <a:srgbClr val="162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66944" y="2340864"/>
            <a:ext cx="4700016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4F8FC"/>
                </a:solidFill>
                <a:latin typeface="Consolas"/>
              </a:rPr>
              <a:t>.\Script\Capture-BuildEvidence.ps1 \
  -SourcePath "C:\src\Python-&lt;version&gt;\Python-&lt;version&gt;" \
  -ReleaseRoot "C:\python-releases"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4041648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3F"/>
                </a:solidFill>
                <a:latin typeface="Aptos"/>
              </a:rPr>
              <a:t>Use the manual command only when evidence must be collected separately or rerun after the build.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4"/>
            <a:ext cx="12191695" cy="18288"/>
          </a:xfrm>
          <a:prstGeom prst="rect">
            <a:avLst/>
          </a:prstGeom>
          <a:solidFill>
            <a:srgbClr val="2F6FAE"/>
          </a:solidFill>
          <a:ln w="12700">
            <a:solidFill>
              <a:srgbClr val="2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93776" y="6327648"/>
            <a:ext cx="10277856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6437376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86"/>
                </a:solidFill>
                <a:latin typeface="Aptos"/>
              </a:rPr>
              <a:t>PSUB Technical Runbook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37392" y="6419088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2F6FAE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512064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F6FAE"/>
                </a:solidFill>
                <a:latin typeface="Aptos"/>
              </a:rPr>
              <a:t>COMMON TECHNICAL FAILURES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786384"/>
            <a:ext cx="93268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7212B"/>
                </a:solidFill>
                <a:latin typeface="Aptos Display"/>
              </a:rPr>
              <a:t>Most blocked runs map to missing toolchain components, wrong Python, documentation tooling, or legacy MSI requirements.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1737360"/>
            <a:ext cx="9144000" cy="466344"/>
          </a:xfrm>
          <a:prstGeom prst="rect">
            <a:avLst/>
          </a:prstGeom>
          <a:solidFill>
            <a:srgbClr val="E6EDF5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7" y="1864984"/>
            <a:ext cx="195681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1">
                <a:solidFill>
                  <a:srgbClr val="17212B"/>
                </a:solidFill>
                <a:latin typeface="Aptos"/>
              </a:rPr>
              <a:t>Symptom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864984"/>
            <a:ext cx="296265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1">
                <a:solidFill>
                  <a:srgbClr val="17212B"/>
                </a:solidFill>
                <a:latin typeface="Aptos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9007" y="1864984"/>
            <a:ext cx="3785616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60" b="1">
                <a:solidFill>
                  <a:srgbClr val="17212B"/>
                </a:solidFill>
                <a:latin typeface="Aptos"/>
              </a:rPr>
              <a:t>Operator 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2203704"/>
            <a:ext cx="9144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7" y="2332867"/>
            <a:ext cx="19568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323F"/>
                </a:solidFill>
                <a:latin typeface="Aptos"/>
              </a:rPr>
              <a:t>SDK/MSVC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332867"/>
            <a:ext cx="296265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Incomplete Visual Studio components.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7" y="2332867"/>
            <a:ext cx="37856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Install C++ workload, x64/x86, ARM64, and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" y="2670048"/>
            <a:ext cx="9144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7" y="2799211"/>
            <a:ext cx="19568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323F"/>
                </a:solidFill>
                <a:latin typeface="Aptos"/>
              </a:rPr>
              <a:t>Wrong Python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799211"/>
            <a:ext cx="296265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Python 3.13 or WindowsApps alias selected.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7" y="2799211"/>
            <a:ext cx="37856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Use Python 3.10 or 3.12 from python.org.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3136392"/>
            <a:ext cx="9144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7" y="3265555"/>
            <a:ext cx="19568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323F"/>
                </a:solidFill>
                <a:latin typeface="Aptos"/>
              </a:rPr>
              <a:t>Doc packaging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265555"/>
            <a:ext cx="296265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Missing doc venv or Sphinx dependencies.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9007" y="3265555"/>
            <a:ext cx="37856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Refresh doc environment and rerun the build.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" y="3602736"/>
            <a:ext cx="9144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7" y="3731899"/>
            <a:ext cx="19568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323F"/>
                </a:solidFill>
                <a:latin typeface="Aptos"/>
              </a:rPr>
              <a:t>Python 3.10 WiX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3731899"/>
            <a:ext cx="296265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.NET 3.5 or legacy MSI dependency missing.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7" y="3731899"/>
            <a:ext cx="37856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Enable .NET Framework 3.5 and rerun externals.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" y="4069080"/>
            <a:ext cx="9144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7" y="4198243"/>
            <a:ext cx="19568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 b="1">
                <a:solidFill>
                  <a:srgbClr val="26323F"/>
                </a:solidFill>
                <a:latin typeface="Aptos"/>
              </a:rPr>
              <a:t>Git warnings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4198243"/>
            <a:ext cx="296265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CPython source is extracted archive, not Git checkout.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7" y="4198243"/>
            <a:ext cx="3785616" cy="23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30">
                <a:solidFill>
                  <a:srgbClr val="26323F"/>
                </a:solidFill>
                <a:latin typeface="Aptos"/>
              </a:rPr>
              <a:t>Treat as informational unless artifact metadata is required.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40280" y="5577840"/>
            <a:ext cx="6126480" cy="274320"/>
          </a:xfrm>
          <a:prstGeom prst="roundRect">
            <a:avLst/>
          </a:prstGeom>
          <a:solidFill>
            <a:srgbClr val="F7EAD2"/>
          </a:solidFill>
          <a:ln w="12700">
            <a:solidFill>
              <a:srgbClr val="F7E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13432" y="5632704"/>
            <a:ext cx="5980176" cy="2339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A86A12"/>
                </a:solidFill>
                <a:latin typeface="Aptos"/>
              </a:rPr>
              <a:t>Always preserve the build log and final disposition with the evidence bundle</a:t>
            </a:r>
          </a:p>
        </p:txBody>
      </p:sp>
      <p:sp>
        <p:nvSpPr>
          <p:cNvPr id="36" name="Rektangel 35">
            <a:extLst>
              <a:ext uri="{FF2B5EF4-FFF2-40B4-BE49-F238E27FC236}">
                <a16:creationId xmlns:a16="http://schemas.microsoft.com/office/drawing/2014/main" id="{38BE0D18-DFFD-30AC-D7F3-C3BE6A0BF0BB}"/>
              </a:ext>
            </a:extLst>
          </p:cNvPr>
          <p:cNvSpPr/>
          <p:nvPr/>
        </p:nvSpPr>
        <p:spPr>
          <a:xfrm>
            <a:off x="493776" y="4535424"/>
            <a:ext cx="9144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7" name="textruta 36">
            <a:extLst>
              <a:ext uri="{FF2B5EF4-FFF2-40B4-BE49-F238E27FC236}">
                <a16:creationId xmlns:a16="http://schemas.microsoft.com/office/drawing/2014/main" id="{A4B8772E-CFA3-E487-8119-6B3B509FBE40}"/>
              </a:ext>
            </a:extLst>
          </p:cNvPr>
          <p:cNvSpPr txBox="1"/>
          <p:nvPr/>
        </p:nvSpPr>
        <p:spPr>
          <a:xfrm>
            <a:off x="566928" y="4664586"/>
            <a:ext cx="1956816" cy="235449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sv-SE" sz="930" b="1">
                <a:solidFill>
                  <a:srgbClr val="26323F"/>
                </a:solidFill>
                <a:latin typeface="Aptos" panose="020B0004020202020204" pitchFamily="34" charset="0"/>
              </a:rPr>
              <a:t>pip SSL certificate errors</a:t>
            </a:r>
          </a:p>
        </p:txBody>
      </p:sp>
      <p:sp>
        <p:nvSpPr>
          <p:cNvPr id="38" name="textruta 37">
            <a:extLst>
              <a:ext uri="{FF2B5EF4-FFF2-40B4-BE49-F238E27FC236}">
                <a16:creationId xmlns:a16="http://schemas.microsoft.com/office/drawing/2014/main" id="{89653617-62CC-1B94-E110-099836C2CC1B}"/>
              </a:ext>
            </a:extLst>
          </p:cNvPr>
          <p:cNvSpPr txBox="1"/>
          <p:nvPr/>
        </p:nvSpPr>
        <p:spPr>
          <a:xfrm>
            <a:off x="2670048" y="4585716"/>
            <a:ext cx="2962656" cy="393192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930">
                <a:solidFill>
                  <a:srgbClr val="26323F"/>
                </a:solidFill>
                <a:latin typeface="Aptos" panose="020B0004020202020204" pitchFamily="34" charset="0"/>
              </a:rPr>
              <a:t>Enterprise TLS inspection or managed certificate store is not trusted by Python/pip.</a:t>
            </a:r>
            <a:endParaRPr lang="sv-SE" sz="930">
              <a:solidFill>
                <a:srgbClr val="26323F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ruta 38">
            <a:extLst>
              <a:ext uri="{FF2B5EF4-FFF2-40B4-BE49-F238E27FC236}">
                <a16:creationId xmlns:a16="http://schemas.microsoft.com/office/drawing/2014/main" id="{8B7EE0BE-1558-9748-AA51-3C0B1F426BF7}"/>
              </a:ext>
            </a:extLst>
          </p:cNvPr>
          <p:cNvSpPr txBox="1"/>
          <p:nvPr/>
        </p:nvSpPr>
        <p:spPr>
          <a:xfrm>
            <a:off x="5779008" y="4662279"/>
            <a:ext cx="3785616" cy="240066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en-US" sz="930">
                <a:solidFill>
                  <a:srgbClr val="26323F"/>
                </a:solidFill>
                <a:latin typeface="Aptos" panose="020B0004020202020204" pitchFamily="34" charset="0"/>
              </a:rPr>
              <a:t>Run python -m pip install pip-system-certs before starting the build.</a:t>
            </a:r>
            <a:endParaRPr lang="sv-SE" sz="930">
              <a:solidFill>
                <a:srgbClr val="26323F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</Words>
  <Application>Microsoft Office PowerPoint</Application>
  <PresentationFormat>Bredbild</PresentationFormat>
  <Paragraphs>201</Paragraphs>
  <Slides>13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Consolas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Patrik Karlsson</cp:lastModifiedBy>
  <cp:revision>10</cp:revision>
  <dcterms:created xsi:type="dcterms:W3CDTF">2013-01-27T09:14:16Z</dcterms:created>
  <dcterms:modified xsi:type="dcterms:W3CDTF">2026-05-27T19:41:46Z</dcterms:modified>
  <cp:category/>
</cp:coreProperties>
</file>