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trikkarlsson72/psub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49808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F6FAE"/>
                </a:solidFill>
                <a:latin typeface="Aptos Display"/>
              </a:rPr>
              <a:t>PSUB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3035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17212B"/>
                </a:solidFill>
                <a:latin typeface="Aptos Display"/>
              </a:rPr>
              <a:t>Technical Runbook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57400"/>
            <a:ext cx="6136022" cy="66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26323F"/>
                </a:solidFill>
                <a:latin typeface="Aptos"/>
              </a:rPr>
              <a:t>Build Python security releases on Windows using a repeatable PSUB operator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3200400"/>
            <a:ext cx="2796475" cy="57607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DC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4640" y="3339785"/>
            <a:ext cx="2197342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2F6FAE"/>
                </a:solidFill>
                <a:latin typeface="Aptos"/>
              </a:rPr>
              <a:t>Windows build 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2837" y="3200400"/>
            <a:ext cx="2796474" cy="57607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DC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4939" y="3339785"/>
            <a:ext cx="251316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2F6FAE"/>
                </a:solidFill>
                <a:latin typeface="Aptos"/>
              </a:rPr>
              <a:t>PowerShell toolkit</a:t>
            </a:r>
            <a:endParaRPr sz="950" b="1" dirty="0">
              <a:solidFill>
                <a:srgbClr val="2F6FA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02763" y="3200400"/>
            <a:ext cx="2796474" cy="57607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DC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44321" y="3328523"/>
            <a:ext cx="2645399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2F6FAE"/>
                </a:solidFill>
                <a:latin typeface="Aptos"/>
              </a:rPr>
              <a:t>Python 3.10 / 3.11 / 3.12</a:t>
            </a:r>
            <a:endParaRPr sz="950" b="1" dirty="0">
              <a:solidFill>
                <a:srgbClr val="2F6FAE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12280" y="1143000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Aptos"/>
              </a:rPr>
              <a:t>Primary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499616"/>
            <a:ext cx="3566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A build operator can prepare the machine, run PSUB, verify artifacts, and retain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95344"/>
            <a:ext cx="52120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323F"/>
                </a:solidFill>
                <a:latin typeface="Aptos"/>
              </a:rPr>
              <a:t>Built by Patrik Karlsson</a:t>
            </a:r>
          </a:p>
          <a:p>
            <a:pPr algn="l">
              <a:spcBef>
                <a:spcPts val="200"/>
              </a:spcBef>
            </a:pPr>
            <a:r>
              <a:rPr sz="1200">
                <a:solidFill>
                  <a:srgbClr val="2F6FAE"/>
                </a:solidFill>
                <a:latin typeface="Aptos"/>
                <a:hlinkClick r:id="rId2"/>
              </a:rPr>
              <a:t>Repository: github.com/patrikkarlsson72/psub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EXECUTION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17212B"/>
                </a:solidFill>
                <a:latin typeface="Aptos Display"/>
              </a:rPr>
              <a:t>PSUB exposes two entry points into the same build workflow.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" y="2368294"/>
            <a:ext cx="2194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6FAE"/>
                </a:solidFill>
                <a:latin typeface="Aptos"/>
              </a:rPr>
              <a:t>Web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61488"/>
            <a:ext cx="1600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Best for manual operator runs and preflight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" y="4151376"/>
            <a:ext cx="2240280" cy="1298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69663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6FAE"/>
                </a:solidFill>
                <a:latin typeface="Aptos"/>
              </a:rPr>
              <a:t>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53712"/>
            <a:ext cx="1600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26323F"/>
                </a:solidFill>
                <a:latin typeface="Aptos"/>
              </a:rPr>
              <a:t>Best for exact repeatability and documented command history.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999232"/>
            <a:ext cx="2377440" cy="123444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69180" y="3108960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dirty="0">
                <a:solidFill>
                  <a:srgbClr val="17212B"/>
                </a:solidFill>
                <a:latin typeface="Aptos"/>
              </a:rPr>
              <a:t>PSUB build 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730752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57386"/>
                </a:solidFill>
                <a:latin typeface="Consolas"/>
              </a:rPr>
              <a:t>Build-PythonRelease.ps1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1080" y="2999232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51392" y="3364992"/>
            <a:ext cx="1325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7212B"/>
                </a:solidFill>
                <a:latin typeface="Aptos"/>
              </a:rPr>
              <a:t>Release outputs + 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08960" y="2743200"/>
            <a:ext cx="1463040" cy="68580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108960" y="3822191"/>
            <a:ext cx="1463040" cy="731521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49440" y="3621024"/>
            <a:ext cx="1691640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937760" y="4443984"/>
            <a:ext cx="1371600" cy="274320"/>
          </a:xfrm>
          <a:prstGeom prst="roundRect">
            <a:avLst/>
          </a:prstGeom>
          <a:solidFill>
            <a:srgbClr val="E4F3EA"/>
          </a:solidFill>
          <a:ln w="12700">
            <a:solidFill>
              <a:srgbClr val="E4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4498848"/>
            <a:ext cx="12252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F8F5B"/>
                </a:solidFill>
                <a:latin typeface="Aptos"/>
              </a:rPr>
              <a:t>Same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REQUIRED MACHINE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The machine must have the Windows toolchain, bootstrap Python, and source prerequisites.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2834640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Visual Studio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Desktop development with C++ workload.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6512" y="1929384"/>
            <a:ext cx="2871216" cy="1033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2103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MSVC toolchains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44144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26323F"/>
                </a:solidFill>
                <a:latin typeface="Aptos"/>
              </a:rPr>
              <a:t>x64/x86 plus ARM64 components.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0064" y="1929384"/>
            <a:ext cx="2871215" cy="1033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54112" y="2103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Windows 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244144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26323F"/>
                </a:solidFill>
                <a:latin typeface="Aptos"/>
              </a:rPr>
              <a:t>10.0.19041.0 or later; Windows 11 SDK is valid.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419856"/>
            <a:ext cx="28346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584448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Bootstrap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922776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Python 3.10 or 3.12 from python.org; not 3.13.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6512" y="3454444"/>
            <a:ext cx="2871216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52544" y="3498574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17212B"/>
                </a:solidFill>
                <a:latin typeface="Aptos"/>
              </a:rPr>
              <a:t>Git for Windows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5778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26323F"/>
                </a:solidFill>
                <a:latin typeface="Aptos"/>
              </a:rPr>
              <a:t>Recommended for metadata; not blocking for extracted source.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3429000"/>
            <a:ext cx="2871216" cy="11044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54112" y="3584448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.NET Framework 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922776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Required for legacy WiX/MSI paths such as Python 3.10.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0" y="5138928"/>
            <a:ext cx="3200400" cy="274320"/>
          </a:xfrm>
          <a:prstGeom prst="roundRect">
            <a:avLst/>
          </a:prstGeom>
          <a:solidFill>
            <a:srgbClr val="F7EAD2"/>
          </a:solidFill>
          <a:ln w="12700">
            <a:solidFill>
              <a:srgbClr val="F7E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913632" y="5152978"/>
            <a:ext cx="30540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dirty="0">
                <a:solidFill>
                  <a:srgbClr val="A86A12"/>
                </a:solidFill>
                <a:latin typeface="Aptos"/>
              </a:rPr>
              <a:t>Git is recommended, not a readiness blocker</a:t>
            </a:r>
            <a:endParaRPr sz="950" b="1" dirty="0">
              <a:solidFill>
                <a:srgbClr val="A86A1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CLONE AND PROJECT 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Run PSUB from the repository root and keep the expected folders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2029968"/>
            <a:ext cx="5852160" cy="960120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194560"/>
            <a:ext cx="5522976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git clone https://github.com/patrikkarlsson72/psub.git
cd psub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3401568"/>
            <a:ext cx="585216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3657600"/>
            <a:ext cx="2286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Required relative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02336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Consolas"/>
              </a:rPr>
              <a:t>PSUB/
|-- Script/
|-- documentation/
`-- assets/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2029968"/>
            <a:ext cx="4023360" cy="475488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2103120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Role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67728" y="250545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578608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78608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PowerShell entry points for UI, CLI build, and evidence capture.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2980944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0" y="3054096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documentation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054096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Operator setup guides, runbook, and troubleshooting notes.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345643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3529584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assets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529584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Static project assets used by the UI and presentation material.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PREPARE CPYTHON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>
                <a:solidFill>
                  <a:srgbClr val="17212B"/>
                </a:solidFill>
                <a:latin typeface="Aptos Display"/>
              </a:rPr>
              <a:t>PSUB builds from a local </a:t>
            </a:r>
            <a:r>
              <a:rPr sz="3000" b="1" dirty="0" err="1">
                <a:solidFill>
                  <a:srgbClr val="17212B"/>
                </a:solidFill>
                <a:latin typeface="Aptos Display"/>
              </a:rPr>
              <a:t>CPython</a:t>
            </a:r>
            <a:r>
              <a:rPr sz="3000" b="1" dirty="0">
                <a:solidFill>
                  <a:srgbClr val="17212B"/>
                </a:solidFill>
                <a:latin typeface="Aptos Display"/>
              </a:rPr>
              <a:t> source tree, not from prebuilt binaries.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93392"/>
            <a:ext cx="5852160" cy="658368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157984"/>
            <a:ext cx="552297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C:\src\Python-3.11.14\Python-3.11.14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3054096"/>
            <a:ext cx="5852160" cy="18836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9264" y="3401568"/>
            <a:ext cx="310896" cy="310896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9264" y="3465576"/>
            <a:ext cx="3108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01568"/>
            <a:ext cx="4572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Download source archive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65760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57386"/>
                </a:solidFill>
                <a:latin typeface="Aptos"/>
              </a:rPr>
              <a:t>Use the target release line from python.org.</a:t>
            </a:r>
          </a:p>
        </p:txBody>
      </p:sp>
      <p:sp>
        <p:nvSpPr>
          <p:cNvPr id="17" name="Oval 16"/>
          <p:cNvSpPr/>
          <p:nvPr/>
        </p:nvSpPr>
        <p:spPr>
          <a:xfrm>
            <a:off x="969264" y="4133087"/>
            <a:ext cx="310896" cy="310896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9264" y="4197096"/>
            <a:ext cx="3108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8176" y="4133087"/>
            <a:ext cx="4572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Verify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38912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57386"/>
                </a:solidFill>
                <a:latin typeface="Aptos"/>
              </a:rPr>
              <a:t>Keep source URLs, hashes, and signature results with the run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93392"/>
            <a:ext cx="2377440" cy="278892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6679" y="230428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Expected source folders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83464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6323F"/>
                </a:solidFill>
                <a:latin typeface="Consolas"/>
              </a:rPr>
              <a:t>PCbuild
Tools\msi
Doc\requirements.txt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279392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57386"/>
                </a:solidFill>
                <a:latin typeface="Aptos"/>
              </a:rPr>
              <a:t>Validate these before starting a long build.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START THE WEB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Use the UI when the operator needs preflight visibility before launching the 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029968"/>
            <a:ext cx="7040880" cy="713232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194560"/>
            <a:ext cx="671169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F4F8FC"/>
                </a:solidFill>
                <a:latin typeface="Consolas"/>
              </a:rPr>
              <a:t>.\Script\Build-PythonRelease-UI-Simple.ps1</a:t>
            </a:r>
            <a:endParaRPr sz="1400" b="0" dirty="0">
              <a:solidFill>
                <a:srgbClr val="F4F8FC"/>
              </a:solidFill>
              <a:latin typeface="Consola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86384" y="3154680"/>
            <a:ext cx="704088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1560" y="3593592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39" y="3469142"/>
            <a:ext cx="60350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400" b="0">
                <a:solidFill>
                  <a:srgbClr val="26323F"/>
                </a:solidFill>
                <a:latin typeface="Aptos"/>
              </a:rPr>
              <a:t>PSUB automatically tries port 8080 first, then falls back to a free localhost port if 8080 is unavailable.</a:t>
            </a:r>
            <a:endParaRPr sz="1400" b="0">
              <a:solidFill>
                <a:srgbClr val="26323F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051560" y="4014216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39" y="3941064"/>
            <a:ext cx="6035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Aptos"/>
              </a:rPr>
              <a:t>The script opens the browser or prints the correct URL in the console.</a:t>
            </a:r>
          </a:p>
        </p:txBody>
      </p:sp>
      <p:sp>
        <p:nvSpPr>
          <p:cNvPr id="17" name="Oval 16"/>
          <p:cNvSpPr/>
          <p:nvPr/>
        </p:nvSpPr>
        <p:spPr>
          <a:xfrm>
            <a:off x="1051560" y="4434840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39" y="4361688"/>
            <a:ext cx="6035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Aptos"/>
              </a:rPr>
              <a:t>Build helper files and logs are written under the repository logs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2029968"/>
            <a:ext cx="2587752" cy="281635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C4D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49379" y="2393740"/>
            <a:ext cx="154255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2F6FAE"/>
                </a:solidFill>
                <a:latin typeface="Aptos"/>
              </a:rPr>
              <a:t>Operator rule</a:t>
            </a:r>
            <a:endParaRPr sz="1400" b="1" dirty="0">
              <a:solidFill>
                <a:srgbClr val="2F6FAE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796527" y="2971800"/>
            <a:ext cx="2161033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17212B"/>
                </a:solidFill>
                <a:latin typeface="Aptos"/>
              </a:rPr>
              <a:t>Check prerequisites before starting a long build</a:t>
            </a:r>
            <a:r>
              <a:rPr lang="sv-SE" sz="1600" b="1" dirty="0">
                <a:solidFill>
                  <a:srgbClr val="17212B"/>
                </a:solidFill>
                <a:latin typeface="Aptos"/>
              </a:rPr>
              <a:t>!</a:t>
            </a:r>
            <a:endParaRPr sz="1600" b="1" dirty="0">
              <a:solidFill>
                <a:srgbClr val="17212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PREFLIGHT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17212B"/>
                </a:solidFill>
                <a:latin typeface="Aptos Display"/>
              </a:rPr>
              <a:t>The operator verifies readiness before spending time on a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863840" cy="475488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19" y="1947672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947672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Expected 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350008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19" y="2423160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Visual Studio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423160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2019 or 2022 detected with required C++ components.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825496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19" y="2898648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Windows 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2898648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Installed SDK version is detected and can be prefilled.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300984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19" y="3374136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Bootstrap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430058"/>
            <a:ext cx="5797296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050" b="0">
                <a:solidFill>
                  <a:srgbClr val="26323F"/>
                </a:solidFill>
                <a:latin typeface="Aptos"/>
              </a:rPr>
              <a:t>Python 3.10 or 3.12 from python.org (not a WindowsApps alias).</a:t>
            </a:r>
            <a:endParaRPr sz="1050" b="0">
              <a:solidFill>
                <a:srgbClr val="26323F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58368" y="3776472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19" y="3849624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Git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849624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Detected when available; warning only if missing.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51960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19" y="4325112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.NET 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325112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Enabled when the target path needs legacy WiX/MSI support.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32496" y="3660184"/>
            <a:ext cx="3216320" cy="1011885"/>
          </a:xfrm>
          <a:prstGeom prst="roundRect">
            <a:avLst/>
          </a:prstGeom>
          <a:solidFill>
            <a:srgbClr val="F5E2DF"/>
          </a:solidFill>
          <a:ln w="12700">
            <a:solidFill>
              <a:srgbClr val="E0B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70625" y="3641092"/>
            <a:ext cx="2058791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sv-SE" sz="1600" b="1" dirty="0">
                <a:solidFill>
                  <a:srgbClr val="B64D44"/>
                </a:solidFill>
                <a:latin typeface="Aptos"/>
              </a:rPr>
              <a:t>Not </a:t>
            </a:r>
            <a:r>
              <a:rPr lang="sv-SE" sz="1600" b="1" dirty="0" err="1">
                <a:solidFill>
                  <a:srgbClr val="B64D44"/>
                </a:solidFill>
                <a:latin typeface="Aptos"/>
              </a:rPr>
              <a:t>recommended</a:t>
            </a:r>
            <a:endParaRPr sz="1500" b="1" dirty="0">
              <a:solidFill>
                <a:srgbClr val="B64D44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183625" y="4048113"/>
            <a:ext cx="2350007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sv-SE" sz="1000" b="0" dirty="0">
                <a:solidFill>
                  <a:srgbClr val="17212B"/>
                </a:solidFill>
                <a:latin typeface="Consolas"/>
              </a:rPr>
              <a:t>%LOCALAPPDATA%\Microsoft\</a:t>
            </a:r>
            <a:r>
              <a:rPr lang="sv-SE" sz="1000" b="0" dirty="0" err="1">
                <a:solidFill>
                  <a:srgbClr val="17212B"/>
                </a:solidFill>
                <a:latin typeface="Consolas"/>
              </a:rPr>
              <a:t>WindowsApps</a:t>
            </a:r>
            <a:r>
              <a:rPr lang="sv-SE" sz="1000" b="0" dirty="0">
                <a:solidFill>
                  <a:srgbClr val="17212B"/>
                </a:solidFill>
                <a:latin typeface="Consolas"/>
              </a:rPr>
              <a:t>\python.exe</a:t>
            </a:r>
          </a:p>
          <a:p>
            <a:pPr algn="ctr"/>
            <a:r>
              <a:rPr lang="sv-SE" sz="1000" b="0" dirty="0">
                <a:solidFill>
                  <a:srgbClr val="17212B"/>
                </a:solidFill>
                <a:latin typeface="Consolas"/>
              </a:rPr>
              <a:t>(Windows </a:t>
            </a:r>
            <a:r>
              <a:rPr lang="sv-SE" sz="1000" b="0" dirty="0" err="1">
                <a:solidFill>
                  <a:srgbClr val="17212B"/>
                </a:solidFill>
                <a:latin typeface="Consolas"/>
              </a:rPr>
              <a:t>app</a:t>
            </a:r>
            <a:r>
              <a:rPr lang="sv-SE" sz="1000" b="0" dirty="0">
                <a:solidFill>
                  <a:srgbClr val="17212B"/>
                </a:solidFill>
                <a:latin typeface="Consolas"/>
              </a:rPr>
              <a:t> alias)</a:t>
            </a:r>
            <a:endParaRPr sz="1000" b="0" dirty="0">
              <a:solidFill>
                <a:srgbClr val="17212B"/>
              </a:solidFill>
              <a:latin typeface="Consola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832496" y="1897604"/>
            <a:ext cx="3216320" cy="891316"/>
          </a:xfrm>
          <a:prstGeom prst="roundRect">
            <a:avLst/>
          </a:prstGeom>
          <a:solidFill>
            <a:srgbClr val="E4F3EA"/>
          </a:solidFill>
          <a:ln w="12700">
            <a:solidFill>
              <a:srgbClr val="E4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8745040" y="1894123"/>
            <a:ext cx="3391232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>
                <a:solidFill>
                  <a:srgbClr val="2F8F5B"/>
                </a:solidFill>
                <a:latin typeface="Aptos"/>
              </a:rPr>
              <a:t>Recommended </a:t>
            </a:r>
          </a:p>
          <a:p>
            <a:pPr algn="ctr"/>
            <a:endParaRPr lang="en-US" sz="1400" b="1" dirty="0">
              <a:solidFill>
                <a:srgbClr val="2F8F5B"/>
              </a:solidFill>
              <a:latin typeface="Aptos"/>
            </a:endParaRPr>
          </a:p>
          <a:p>
            <a:pPr algn="ctr"/>
            <a:r>
              <a:rPr lang="en-US" sz="1400" b="1" dirty="0">
                <a:solidFill>
                  <a:srgbClr val="2F8F5B"/>
                </a:solidFill>
                <a:latin typeface="Aptos"/>
              </a:rPr>
              <a:t>Python 3.10/3.12 from python.org</a:t>
            </a:r>
            <a:endParaRPr sz="950" b="1" dirty="0">
              <a:solidFill>
                <a:srgbClr val="2F8F5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RUN THE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The CLI command is the exact, repeatable build invocation behind the operator 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93392"/>
            <a:ext cx="7132320" cy="1097280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157984"/>
            <a:ext cx="6803136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.\Script\Build-PythonRelease.ps1 \
  -SourcePath "C:\src\Python-&lt;version&gt;\Python-&lt;version&gt;"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3400773"/>
            <a:ext cx="761695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1" y="3512090"/>
            <a:ext cx="2821123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17212B"/>
                </a:solidFill>
                <a:latin typeface="Aptos"/>
              </a:rPr>
              <a:t>Common optional parameters</a:t>
            </a:r>
          </a:p>
        </p:txBody>
      </p:sp>
      <p:sp>
        <p:nvSpPr>
          <p:cNvPr id="14" name="Oval 13"/>
          <p:cNvSpPr/>
          <p:nvPr/>
        </p:nvSpPr>
        <p:spPr>
          <a:xfrm>
            <a:off x="1019357" y="4024155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3918345"/>
            <a:ext cx="5669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26323F"/>
                </a:solidFill>
                <a:latin typeface="Aptos"/>
              </a:rPr>
              <a:t>-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BootstrapPython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: explicit helper Python executable.</a:t>
            </a:r>
          </a:p>
        </p:txBody>
      </p:sp>
      <p:sp>
        <p:nvSpPr>
          <p:cNvPr id="16" name="Oval 15"/>
          <p:cNvSpPr/>
          <p:nvPr/>
        </p:nvSpPr>
        <p:spPr>
          <a:xfrm>
            <a:off x="1014984" y="4371627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4242816"/>
            <a:ext cx="5669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26323F"/>
                </a:solidFill>
                <a:latin typeface="Aptos"/>
              </a:rPr>
              <a:t>-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ReleaseRoot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: collected release output location.</a:t>
            </a:r>
          </a:p>
        </p:txBody>
      </p:sp>
      <p:sp>
        <p:nvSpPr>
          <p:cNvPr id="18" name="Oval 17"/>
          <p:cNvSpPr/>
          <p:nvPr/>
        </p:nvSpPr>
        <p:spPr>
          <a:xfrm>
            <a:off x="1011405" y="4659010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56914" y="4549282"/>
            <a:ext cx="5669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26323F"/>
                </a:solidFill>
                <a:latin typeface="Aptos"/>
              </a:rPr>
              <a:t>-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WinSdkVersion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: request a specific installed SDK version.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39" y="1993392"/>
            <a:ext cx="2947417" cy="1924953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68264" y="2304288"/>
            <a:ext cx="1870544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17212B"/>
                </a:solidFill>
                <a:latin typeface="Aptos"/>
              </a:rPr>
              <a:t>Expected behavior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2659785"/>
            <a:ext cx="234086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dirty="0">
                <a:solidFill>
                  <a:srgbClr val="26323F"/>
                </a:solidFill>
                <a:latin typeface="Aptos"/>
              </a:rPr>
              <a:t>PSUB detects Visual Studio, imports vcvars64.bat, and proceeds into 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PCbuild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 and Tools\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msi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BUILD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The operator flow moves through validation, toolchain setup, compilation, packaging, and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Source
validation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057400" y="2212848"/>
            <a:ext cx="987552" cy="82296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30552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VS
environment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547872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Externals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35424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47488" y="2212848"/>
            <a:ext cx="987552" cy="82296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Docs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5040" y="2633472"/>
            <a:ext cx="429767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537960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11112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PCbuild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25512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28431" y="2212848"/>
            <a:ext cx="987552" cy="82296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01583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MSI / release
packaging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015984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28048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1200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Evidence
capture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25880" y="3977639"/>
            <a:ext cx="7993049" cy="1192668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C4D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600199" y="4187952"/>
            <a:ext cx="3663563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2F6FAE"/>
                </a:solidFill>
                <a:latin typeface="Aptos"/>
              </a:rPr>
              <a:t>Version-specific documentation handling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535424"/>
            <a:ext cx="73152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Python 3.10 expects compiled HTML Help output; Python 3.11 and 3.12 expect HTML documentation output. PSUB selects the correct documentation build mode before MSI packaging.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BUILD PIPELINE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931954"/>
            <a:ext cx="1027785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7212B"/>
                </a:solidFill>
                <a:latin typeface="Aptos Display"/>
              </a:rPr>
              <a:t>Each pipeline stage prepares one requirement for a repeatable release build.</a:t>
            </a:r>
            <a:endParaRPr sz="2800" b="1" dirty="0">
              <a:solidFill>
                <a:srgbClr val="17212B"/>
              </a:solidFill>
              <a:latin typeface="Aptos Display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8368" y="1755648"/>
            <a:ext cx="10652760" cy="493776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856231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7212B"/>
                </a:solidFill>
                <a:latin typeface="Aptos"/>
              </a:rPr>
              <a:t>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856231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7212B"/>
                </a:solidFill>
                <a:latin typeface="Aptos"/>
              </a:rPr>
              <a:t>What it does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9424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Source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350008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Confirms the CPython source tree exists and contains PCbuild, Tools\msi, and Doc\requirements.txt.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743200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2843784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VS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843784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Detects Visual Studio and loads the compiler environment through vcvars64.bat.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236976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337560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Externals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3337560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Downloads or refreshes CPython external dependencies required by the build and installer steps.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30752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831336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432" y="3831336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Builds the documentation format required by the target Python version.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24528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4325112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PCbuild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4325112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Compiles the CPython binaries for the selected architecture.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718304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4818888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MSI / release packaging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818888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Runs the Windows installer packaging flow and collects installer artifacts.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12080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" y="5312664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Evidence capture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5312664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Records build metadata, artifact checksums, environment details, and summary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A successful run produces installer artifacts and a collected release archive.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93392"/>
            <a:ext cx="9052560" cy="566928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1" y="2066544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066544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Location /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066544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1" y="2633472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python-&lt;version&gt;-amd64.exe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2633472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PCbuild\amd64\en-us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633472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Windows installer executable.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27248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1" y="3200400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*.msi packages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3200400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PCbuild\amd64\en-us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00400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Core, pip, path, tcltk, dev, and doc MSI outputs.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94176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1" y="3767328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python-&lt;version&gt;-embed-amd64.zip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767328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PCbuild\amd64\en-us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767328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Embeddable Python distribution.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61104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1" y="4334256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Python-&lt;version&gt;_&lt;timestamp&gt;.zip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4334256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ReleaseRoot, e.g. C:\python-releases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4334256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Collected PSUB release archive.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5230368"/>
            <a:ext cx="6035040" cy="274320"/>
          </a:xfrm>
          <a:prstGeom prst="roundRect">
            <a:avLst/>
          </a:prstGeom>
          <a:solidFill>
            <a:srgbClr val="E4F3EA"/>
          </a:solidFill>
          <a:ln w="12700">
            <a:solidFill>
              <a:srgbClr val="E4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49424" y="5285231"/>
            <a:ext cx="588873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F8F5B"/>
                </a:solidFill>
                <a:latin typeface="Aptos"/>
              </a:rPr>
              <a:t>Record the final output path and release zip name in the run evidence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EVIDENCE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Build evidence is captured automatically after a successful build and can be rerun manually.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56816"/>
            <a:ext cx="3749039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231136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Evidence contents</a:t>
            </a:r>
          </a:p>
        </p:txBody>
      </p:sp>
      <p:sp>
        <p:nvSpPr>
          <p:cNvPr id="12" name="Oval 11"/>
          <p:cNvSpPr/>
          <p:nvPr/>
        </p:nvSpPr>
        <p:spPr>
          <a:xfrm>
            <a:off x="969264" y="2688336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144" y="2615184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Build metadata and command context.</a:t>
            </a:r>
          </a:p>
        </p:txBody>
      </p:sp>
      <p:sp>
        <p:nvSpPr>
          <p:cNvPr id="14" name="Oval 13"/>
          <p:cNvSpPr/>
          <p:nvPr/>
        </p:nvSpPr>
        <p:spPr>
          <a:xfrm>
            <a:off x="969264" y="3072384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52144" y="2999232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pip freeze from the relevant environment.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" y="3456432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52144" y="3383279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SHA256 checksums for release artifacts.</a:t>
            </a:r>
          </a:p>
        </p:txBody>
      </p:sp>
      <p:sp>
        <p:nvSpPr>
          <p:cNvPr id="18" name="Oval 17"/>
          <p:cNvSpPr/>
          <p:nvPr/>
        </p:nvSpPr>
        <p:spPr>
          <a:xfrm>
            <a:off x="969264" y="3840480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52144" y="376732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summary.html for reviewer-friendly inspection.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02352" y="2176272"/>
            <a:ext cx="5029200" cy="1572768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66944" y="2340864"/>
            <a:ext cx="47000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.\Script\Capture-BuildEvidence.ps1 \
  -SourcePath "C:\src\Python-&lt;version&gt;\Python-&lt;version&gt;" \
  -ReleaseRoot "C:\python-releases"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041648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Aptos"/>
              </a:rPr>
              <a:t>Use the manual command only when evidence must be collected separately or rerun after the build.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COMMON TECHNICAL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Most blocked runs map to missing toolchain components, wrong Python, documentation tooling, or legacy MSI requirements.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" y="1737360"/>
            <a:ext cx="9144000" cy="466344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7" y="1864984"/>
            <a:ext cx="1956816" cy="238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0" b="1">
                <a:solidFill>
                  <a:srgbClr val="17212B"/>
                </a:solidFill>
                <a:latin typeface="Aptos"/>
              </a:rPr>
              <a:t>Symptom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864984"/>
            <a:ext cx="2962656" cy="238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0" b="1">
                <a:solidFill>
                  <a:srgbClr val="17212B"/>
                </a:solidFill>
                <a:latin typeface="Aptos"/>
              </a:rPr>
              <a:t>Likely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7" y="1864984"/>
            <a:ext cx="3785616" cy="238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0" b="1">
                <a:solidFill>
                  <a:srgbClr val="17212B"/>
                </a:solidFill>
                <a:latin typeface="Aptos"/>
              </a:rPr>
              <a:t>Operator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" y="2203704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7" y="2332867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SDK/MSVC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332867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Incomplete Visual Studio components.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9007" y="2332867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Install C++ workload, x64/x86, ARM64, and SDK.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" y="2670048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7" y="2799211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Wrong Python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2799211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Python 3.13 or WindowsApps alias selected.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9007" y="2799211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Use Python 3.10 or 3.12 from python.org.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3136392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7" y="3265555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Doc packaging fails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265555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Missing doc venv or Sphinx dependencies.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3265555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Refresh doc environment and rerun the build.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3602736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7" y="3731899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Python 3.10 WiX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0048" y="3731899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.NET 3.5 or legacy MSI dependency missing.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7" y="3731899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Enable .NET Framework 3.5 and rerun externals.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4069080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7" y="4198243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Git warnings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0048" y="4198243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CPython source is extracted archive, not Git checkout.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7" y="4198243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Treat as informational unless artifact metadata is required.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40280" y="5577840"/>
            <a:ext cx="6126480" cy="274320"/>
          </a:xfrm>
          <a:prstGeom prst="roundRect">
            <a:avLst/>
          </a:prstGeom>
          <a:solidFill>
            <a:srgbClr val="F7EAD2"/>
          </a:solidFill>
          <a:ln w="12700">
            <a:solidFill>
              <a:srgbClr val="F7E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313432" y="5632704"/>
            <a:ext cx="5980176" cy="2339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A86A12"/>
                </a:solidFill>
                <a:latin typeface="Aptos"/>
              </a:rPr>
              <a:t>Always preserve the build log and final disposition with the evidence bundle</a:t>
            </a:r>
          </a:p>
        </p:txBody>
      </p:sp>
      <p:sp>
        <p:nvSpPr>
          <p:cNvPr id="36" name="Rektangel 35">
            <a:extLst>
              <a:ext uri="{FF2B5EF4-FFF2-40B4-BE49-F238E27FC236}">
                <a16:creationId xmlns:a16="http://schemas.microsoft.com/office/drawing/2014/main" id="{38BE0D18-DFFD-30AC-D7F3-C3BE6A0BF0BB}"/>
              </a:ext>
            </a:extLst>
          </p:cNvPr>
          <p:cNvSpPr/>
          <p:nvPr/>
        </p:nvSpPr>
        <p:spPr>
          <a:xfrm>
            <a:off x="493776" y="4535424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4B8772E-CFA3-E487-8119-6B3B509FBE40}"/>
              </a:ext>
            </a:extLst>
          </p:cNvPr>
          <p:cNvSpPr txBox="1"/>
          <p:nvPr/>
        </p:nvSpPr>
        <p:spPr>
          <a:xfrm>
            <a:off x="566928" y="4664586"/>
            <a:ext cx="1956816" cy="23544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sv-SE" sz="930" b="1">
                <a:solidFill>
                  <a:srgbClr val="26323F"/>
                </a:solidFill>
                <a:latin typeface="Aptos" panose="020B0004020202020204" pitchFamily="34" charset="0"/>
              </a:rPr>
              <a:t>pip SSL certificate errors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89653617-62CC-1B94-E110-099836C2CC1B}"/>
              </a:ext>
            </a:extLst>
          </p:cNvPr>
          <p:cNvSpPr txBox="1"/>
          <p:nvPr/>
        </p:nvSpPr>
        <p:spPr>
          <a:xfrm>
            <a:off x="2670048" y="4585716"/>
            <a:ext cx="2962656" cy="393192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en-US" sz="930">
                <a:solidFill>
                  <a:srgbClr val="26323F"/>
                </a:solidFill>
                <a:latin typeface="Aptos" panose="020B0004020202020204" pitchFamily="34" charset="0"/>
              </a:rPr>
              <a:t>Enterprise TLS inspection or managed certificate store is not trusted by Python/pip.</a:t>
            </a:r>
            <a:endParaRPr lang="sv-SE" sz="930">
              <a:solidFill>
                <a:srgbClr val="26323F"/>
              </a:solidFill>
              <a:latin typeface="Aptos" panose="020B0004020202020204" pitchFamily="34" charset="0"/>
            </a:endParaRP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8B7EE0BE-1558-9748-AA51-3C0B1F426BF7}"/>
              </a:ext>
            </a:extLst>
          </p:cNvPr>
          <p:cNvSpPr txBox="1"/>
          <p:nvPr/>
        </p:nvSpPr>
        <p:spPr>
          <a:xfrm>
            <a:off x="5779008" y="4662279"/>
            <a:ext cx="3785616" cy="240066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en-US" sz="930">
                <a:solidFill>
                  <a:srgbClr val="26323F"/>
                </a:solidFill>
                <a:latin typeface="Aptos" panose="020B0004020202020204" pitchFamily="34" charset="0"/>
              </a:rPr>
              <a:t>Run python -m pip install pip-system-certs before starting the build.</a:t>
            </a:r>
            <a:endParaRPr lang="sv-SE" sz="930">
              <a:solidFill>
                <a:srgbClr val="26323F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1259</Words>
  <Application>Microsoft Office PowerPoint</Application>
  <PresentationFormat>Bredbild</PresentationFormat>
  <Paragraphs>201</Paragraphs>
  <Slides>13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Consolas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Patrik Karlsson</cp:lastModifiedBy>
  <cp:revision>10</cp:revision>
  <dcterms:created xsi:type="dcterms:W3CDTF">2013-01-27T09:14:16Z</dcterms:created>
  <dcterms:modified xsi:type="dcterms:W3CDTF">2026-05-27T19:41:46Z</dcterms:modified>
  <cp:category/>
</cp:coreProperties>
</file>