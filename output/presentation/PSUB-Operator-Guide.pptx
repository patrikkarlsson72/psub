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Rounded Rectangle 6"/>
          <p:cNvSpPr/>
          <p:nvPr/>
        </p:nvSpPr>
        <p:spPr>
          <a:xfrm>
            <a:off x="5897880" y="1078992"/>
            <a:ext cx="5577840" cy="4160520"/>
          </a:xfrm>
          <a:prstGeom prst="roundRect">
            <a:avLst/>
          </a:prstGeom>
          <a:solidFill>
            <a:srgbClr val="04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896112"/>
            <a:ext cx="1280160" cy="73152"/>
          </a:xfrm>
          <a:prstGeom prst="rect">
            <a:avLst/>
          </a:prstGeom>
          <a:solidFill>
            <a:srgbClr val="E6B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51206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E7EEF7"/>
                </a:solidFill>
                <a:latin typeface="Aptos Display"/>
              </a:rPr>
              <a:t>PSUB Operator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536192"/>
            <a:ext cx="5029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8EEF4"/>
                </a:solidFill>
                <a:latin typeface="Aptos"/>
              </a:rPr>
              <a:t>A faster, safer path for Windows Python security release builds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932688"/>
            <a:ext cx="5577840" cy="4160520"/>
          </a:xfrm>
          <a:prstGeom prst="roundRect">
            <a:avLst/>
          </a:prstGeom>
          <a:solidFill>
            <a:srgbClr val="F8FAFC"/>
          </a:solidFill>
          <a:ln>
            <a:solidFill>
              <a:srgbClr val="415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89320" y="1133856"/>
            <a:ext cx="1005840" cy="256032"/>
          </a:xfrm>
          <a:prstGeom prst="roundRect">
            <a:avLst/>
          </a:prstGeom>
          <a:solidFill>
            <a:srgbClr val="E6B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21B26"/>
                </a:solidFill>
              </a:rPr>
              <a:t>Web UI</a:t>
            </a:r>
          </a:p>
        </p:txBody>
      </p:sp>
      <p:pic>
        <p:nvPicPr>
          <p:cNvPr id="10" name="Picture 9" descr="Hom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925312" y="1335024"/>
            <a:ext cx="5230368" cy="349300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76656" y="5394960"/>
            <a:ext cx="3246120" cy="292608"/>
          </a:xfrm>
          <a:prstGeom prst="roundRect">
            <a:avLst/>
          </a:prstGeom>
          <a:solidFill>
            <a:srgbClr val="E6B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21B26"/>
                </a:solidFill>
              </a:rPr>
              <a:t>Validated on Python 3.10.x, 3.11.x, and 3.12.x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46520"/>
            <a:ext cx="6949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E8EEF4"/>
                </a:solidFill>
              </a:rPr>
              <a:t>PSUB | Operator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E8EEF4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3F7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8138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7EEF7"/>
                </a:solidFill>
                <a:latin typeface="Aptos Display"/>
              </a:rPr>
              <a:t>Why PSUB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70432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8EEF4"/>
                </a:solidFill>
                <a:latin typeface="Aptos"/>
              </a:rPr>
              <a:t>The operator problem it solves on a Windows build machine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2148840" cy="1280160"/>
          </a:xfrm>
          <a:prstGeom prst="roundRect">
            <a:avLst/>
          </a:prstGeom>
          <a:solidFill>
            <a:srgbClr val="1B263B"/>
          </a:solidFill>
          <a:ln>
            <a:solidFill>
              <a:srgbClr val="415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2020823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BE5A"/>
                </a:solidFill>
              </a:rPr>
              <a:t>UI-first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295143"/>
            <a:ext cx="16002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E7EEF7"/>
                </a:solidFill>
                <a:latin typeface="Aptos Display"/>
              </a:rPr>
              <a:t>One operator surface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90672" y="1874519"/>
            <a:ext cx="2148840" cy="1280160"/>
          </a:xfrm>
          <a:prstGeom prst="roundRect">
            <a:avLst/>
          </a:prstGeom>
          <a:solidFill>
            <a:srgbClr val="1B263B"/>
          </a:solidFill>
          <a:ln>
            <a:solidFill>
              <a:srgbClr val="415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2020823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BE5A"/>
                </a:solidFill>
              </a:rPr>
              <a:t>Safer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295143"/>
            <a:ext cx="16002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E7EEF7"/>
                </a:solidFill>
                <a:latin typeface="Aptos Display"/>
              </a:rPr>
              <a:t>Preflight before build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22976" y="1874519"/>
            <a:ext cx="2148840" cy="1280160"/>
          </a:xfrm>
          <a:prstGeom prst="roundRect">
            <a:avLst/>
          </a:prstGeom>
          <a:solidFill>
            <a:srgbClr val="1B263B"/>
          </a:solidFill>
          <a:ln>
            <a:solidFill>
              <a:srgbClr val="415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24144" y="2020823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BE5A"/>
                </a:solidFill>
              </a:rPr>
              <a:t>Repeatable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24144" y="2295143"/>
            <a:ext cx="16002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E7EEF7"/>
                </a:solidFill>
                <a:latin typeface="Aptos Display"/>
              </a:rPr>
              <a:t>CLI still available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611880"/>
            <a:ext cx="7406640" cy="2331720"/>
          </a:xfrm>
          <a:prstGeom prst="roundRect">
            <a:avLst/>
          </a:prstGeom>
          <a:solidFill>
            <a:srgbClr val="1B263B"/>
          </a:solidFill>
          <a:ln>
            <a:solidFill>
              <a:srgbClr val="415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776472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E6BE5A"/>
                </a:solidFill>
              </a:rPr>
              <a:t>Key Points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114800"/>
            <a:ext cx="705916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400">
                <a:solidFill>
                  <a:srgbClr val="E7EEF7"/>
                </a:solidFill>
                <a:latin typeface="Aptos"/>
              </a:rPr>
              <a:t>One entry point for prerequisite checks, build settings, and launch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400">
                <a:solidFill>
                  <a:srgbClr val="E7EEF7"/>
                </a:solidFill>
                <a:latin typeface="Aptos"/>
              </a:rPr>
              <a:t>Less guesswork when Visual Studio, SDK, or bootstrap Python drift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400">
                <a:solidFill>
                  <a:srgbClr val="E7EEF7"/>
                </a:solidFill>
                <a:latin typeface="Aptos"/>
              </a:rPr>
              <a:t>Clearer failure handling than raw batch files alone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23960" y="1097280"/>
            <a:ext cx="2743200" cy="4937760"/>
          </a:xfrm>
          <a:prstGeom prst="roundRect">
            <a:avLst/>
          </a:prstGeom>
          <a:solidFill>
            <a:srgbClr val="1B263B"/>
          </a:solidFill>
          <a:ln>
            <a:solidFill>
              <a:srgbClr val="415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132588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E6BE5A"/>
                </a:solidFill>
              </a:rPr>
              <a:t>Operator Angle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1737360"/>
            <a:ext cx="2148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>
                <a:solidFill>
                  <a:srgbClr val="E7EEF7"/>
                </a:solidFill>
                <a:latin typeface="Aptos"/>
              </a:rPr>
              <a:t>Operators stay in one UI instead of jumping between scripts, docs, and environment probes.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6446520"/>
            <a:ext cx="6949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E8EEF4"/>
                </a:solidFill>
              </a:rPr>
              <a:t>PSUB | Operator Guide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E8EEF4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3F7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8138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7EEF7"/>
                </a:solidFill>
                <a:latin typeface="Aptos Display"/>
              </a:rPr>
              <a:t>Standard Operator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70432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8EEF4"/>
                </a:solidFill>
                <a:latin typeface="Aptos"/>
              </a:rPr>
              <a:t>The repeatable sequence that keeps failures visible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9012" y="2880360"/>
            <a:ext cx="6446519" cy="54864"/>
          </a:xfrm>
          <a:prstGeom prst="rect">
            <a:avLst/>
          </a:prstGeom>
          <a:solidFill>
            <a:srgbClr val="415A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2331720"/>
            <a:ext cx="1051560" cy="914400"/>
          </a:xfrm>
          <a:prstGeom prst="roundRect">
            <a:avLst/>
          </a:prstGeom>
          <a:solidFill>
            <a:srgbClr val="3F7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E7EEF7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3401568"/>
            <a:ext cx="127101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>
                <a:solidFill>
                  <a:srgbClr val="E7EEF7"/>
                </a:solidFill>
              </a:rPr>
              <a:t>Open PSUB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02535" y="2331720"/>
            <a:ext cx="1051560" cy="914400"/>
          </a:xfrm>
          <a:prstGeom prst="roundRect">
            <a:avLst/>
          </a:prstGeom>
          <a:solidFill>
            <a:srgbClr val="415A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E7EEF7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92807" y="3401568"/>
            <a:ext cx="127101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>
                <a:solidFill>
                  <a:srgbClr val="E7EEF7"/>
                </a:solidFill>
              </a:rPr>
              <a:t>Confirm prerequisites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39" y="2331720"/>
            <a:ext cx="1051560" cy="914400"/>
          </a:xfrm>
          <a:prstGeom prst="roundRect">
            <a:avLst/>
          </a:prstGeom>
          <a:solidFill>
            <a:srgbClr val="3F7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E7EEF7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82111" y="3401568"/>
            <a:ext cx="127101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>
                <a:solidFill>
                  <a:srgbClr val="E7EEF7"/>
                </a:solidFill>
              </a:rPr>
              <a:t>Set source and bootstrap Python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81143" y="2331720"/>
            <a:ext cx="1051560" cy="914400"/>
          </a:xfrm>
          <a:prstGeom prst="roundRect">
            <a:avLst/>
          </a:prstGeom>
          <a:solidFill>
            <a:srgbClr val="415A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E7EEF7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1415" y="3401568"/>
            <a:ext cx="127101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>
                <a:solidFill>
                  <a:srgbClr val="E7EEF7"/>
                </a:solidFill>
              </a:rPr>
              <a:t>Create or refresh doc-venv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70447" y="2331720"/>
            <a:ext cx="1051560" cy="914400"/>
          </a:xfrm>
          <a:prstGeom prst="roundRect">
            <a:avLst/>
          </a:prstGeom>
          <a:solidFill>
            <a:srgbClr val="3F7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E7EEF7"/>
                </a:solidFill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19" y="3401568"/>
            <a:ext cx="127101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>
                <a:solidFill>
                  <a:srgbClr val="E7EEF7"/>
                </a:solidFill>
              </a:rPr>
              <a:t>Start build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59751" y="2331720"/>
            <a:ext cx="1051560" cy="914400"/>
          </a:xfrm>
          <a:prstGeom prst="roundRect">
            <a:avLst/>
          </a:prstGeom>
          <a:solidFill>
            <a:srgbClr val="415A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E7EEF7"/>
                </a:solidFill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0023" y="3401568"/>
            <a:ext cx="127101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>
                <a:solidFill>
                  <a:srgbClr val="E7EEF7"/>
                </a:solidFill>
              </a:rPr>
              <a:t>Review log and collect artifacts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23960" y="1097280"/>
            <a:ext cx="2743200" cy="4937760"/>
          </a:xfrm>
          <a:prstGeom prst="roundRect">
            <a:avLst/>
          </a:prstGeom>
          <a:solidFill>
            <a:srgbClr val="1B263B"/>
          </a:solidFill>
          <a:ln>
            <a:solidFill>
              <a:srgbClr val="415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132588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E6BE5A"/>
                </a:solidFill>
              </a:rPr>
              <a:t>Operator Tips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1737360"/>
            <a:ext cx="2148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>
                <a:solidFill>
                  <a:srgbClr val="E7EEF7"/>
                </a:solidFill>
                <a:latin typeface="Aptos"/>
              </a:rPr>
              <a:t>The same sequence now works cleanly with Visual Studio Professional 2022.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46520"/>
            <a:ext cx="6949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E8EEF4"/>
                </a:solidFill>
              </a:rPr>
              <a:t>PSUB | Operator Guide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E8EEF4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3F7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8138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7EEF7"/>
                </a:solidFill>
                <a:latin typeface="Aptos Display"/>
              </a:rPr>
              <a:t>Prerequisites That Matter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70432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8EEF4"/>
                </a:solidFill>
                <a:latin typeface="Aptos"/>
              </a:rPr>
              <a:t>What must be green before you trust a build run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7818120" cy="4480560"/>
          </a:xfrm>
          <a:prstGeom prst="roundRect">
            <a:avLst/>
          </a:prstGeom>
          <a:solidFill>
            <a:srgbClr val="1B263B"/>
          </a:solidFill>
          <a:ln>
            <a:solidFill>
              <a:srgbClr val="415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8" y="2029968"/>
            <a:ext cx="256032" cy="256032"/>
          </a:xfrm>
          <a:prstGeom prst="ellipse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1993392"/>
            <a:ext cx="6812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50">
                <a:solidFill>
                  <a:srgbClr val="E7EEF7"/>
                </a:solidFill>
              </a:rPr>
              <a:t>Visual Studio 2019 or 2022 with Desktop development with C++</a:t>
            </a:r>
          </a:p>
        </p:txBody>
      </p:sp>
      <p:sp>
        <p:nvSpPr>
          <p:cNvPr id="9" name="Oval 8"/>
          <p:cNvSpPr/>
          <p:nvPr/>
        </p:nvSpPr>
        <p:spPr>
          <a:xfrm>
            <a:off x="841248" y="2642616"/>
            <a:ext cx="256032" cy="256032"/>
          </a:xfrm>
          <a:prstGeom prst="ellipse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606040"/>
            <a:ext cx="6812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50">
                <a:solidFill>
                  <a:srgbClr val="E7EEF7"/>
                </a:solidFill>
              </a:rPr>
              <a:t>MSVC toolchains for x64, x86, and ARM64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3255264"/>
            <a:ext cx="256032" cy="256032"/>
          </a:xfrm>
          <a:prstGeom prst="ellipse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3218688"/>
            <a:ext cx="6812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50">
                <a:solidFill>
                  <a:srgbClr val="E7EEF7"/>
                </a:solidFill>
              </a:rPr>
              <a:t>Windows 10 SDK 10.0.19041.0 or later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3867912"/>
            <a:ext cx="256032" cy="256032"/>
          </a:xfrm>
          <a:prstGeom prst="ellipse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3831336"/>
            <a:ext cx="6812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50">
                <a:solidFill>
                  <a:srgbClr val="E7EEF7"/>
                </a:solidFill>
              </a:rPr>
              <a:t>Bootstrap Python 3.10 or 3.12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4480560"/>
            <a:ext cx="256032" cy="256032"/>
          </a:xfrm>
          <a:prstGeom prst="ellipse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4443984"/>
            <a:ext cx="6812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50">
                <a:solidFill>
                  <a:srgbClr val="E7EEF7"/>
                </a:solidFill>
              </a:rPr>
              <a:t>Git for Windows on PATH (recommended)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5093208"/>
            <a:ext cx="256032" cy="256032"/>
          </a:xfrm>
          <a:prstGeom prst="ellipse">
            <a:avLst/>
          </a:prstGeom>
          <a:solidFill>
            <a:srgbClr val="D8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70432" y="5056632"/>
            <a:ext cx="6812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50">
                <a:solidFill>
                  <a:srgbClr val="E7EEF7"/>
                </a:solidFill>
              </a:rPr>
              <a:t>.NET Framework 3.5 for legacy Python 3.10 MSI flows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23960" y="1097280"/>
            <a:ext cx="2743200" cy="4937760"/>
          </a:xfrm>
          <a:prstGeom prst="roundRect">
            <a:avLst/>
          </a:prstGeom>
          <a:solidFill>
            <a:srgbClr val="1B263B"/>
          </a:solidFill>
          <a:ln>
            <a:solidFill>
              <a:srgbClr val="415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132588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E6BE5A"/>
                </a:solidFill>
              </a:rPr>
              <a:t>Requirements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1737360"/>
            <a:ext cx="2148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>
                <a:solidFill>
                  <a:srgbClr val="E7EEF7"/>
                </a:solidFill>
                <a:latin typeface="Aptos"/>
              </a:rPr>
              <a:t>PSUB links missing prerequisites directly to setup guides.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>
                <a:solidFill>
                  <a:srgbClr val="E7EEF7"/>
                </a:solidFill>
                <a:latin typeface="Aptos"/>
              </a:rPr>
              <a:t>Git is useful for repo workflows and metadata, but it no longer blocks readiness.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>
                <a:solidFill>
                  <a:srgbClr val="E7EEF7"/>
                </a:solidFill>
                <a:latin typeface="Aptos"/>
              </a:rPr>
              <a:t>Do not use Microsoft Store alias paths or Python 3.13 as bootstrap.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46520"/>
            <a:ext cx="6949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E8EEF4"/>
                </a:solidFill>
              </a:rPr>
              <a:t>PSUB | Operator Guide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E8EEF4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3F7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8138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7EEF7"/>
                </a:solidFill>
                <a:latin typeface="Aptos Display"/>
              </a:rPr>
              <a:t>Configure The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70432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8EEF4"/>
                </a:solidFill>
                <a:latin typeface="Aptos"/>
              </a:rPr>
              <a:t>These are the settings operators actually need to touch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64208"/>
            <a:ext cx="7818120" cy="4434840"/>
          </a:xfrm>
          <a:prstGeom prst="roundRect">
            <a:avLst/>
          </a:prstGeom>
          <a:solidFill>
            <a:srgbClr val="F5F8FC"/>
          </a:solidFill>
          <a:ln>
            <a:solidFill>
              <a:srgbClr val="415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nfiguration-settings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67512" y="1828800"/>
            <a:ext cx="7498079" cy="4114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823960" y="1097280"/>
            <a:ext cx="2743200" cy="4937760"/>
          </a:xfrm>
          <a:prstGeom prst="roundRect">
            <a:avLst/>
          </a:prstGeom>
          <a:solidFill>
            <a:srgbClr val="1B263B"/>
          </a:solidFill>
          <a:ln>
            <a:solidFill>
              <a:srgbClr val="415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98280" y="132588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E6BE5A"/>
                </a:solidFill>
              </a:rPr>
              <a:t>Operator Focus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98280" y="1737360"/>
            <a:ext cx="2148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>
                <a:solidFill>
                  <a:srgbClr val="E7EEF7"/>
                </a:solidFill>
                <a:latin typeface="Aptos"/>
              </a:rPr>
              <a:t>Keep the doc-venv name stable unless you have a reason to change it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>
                <a:solidFill>
                  <a:srgbClr val="E7EEF7"/>
                </a:solidFill>
                <a:latin typeface="Aptos"/>
              </a:rPr>
              <a:t>Confirm the release output folder and detected Windows SDK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>
                <a:solidFill>
                  <a:srgbClr val="E7EEF7"/>
                </a:solidFill>
                <a:latin typeface="Aptos"/>
              </a:rPr>
              <a:t>Set SourcePath and Bootstrap Python before launch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>
                <a:solidFill>
                  <a:srgbClr val="E7EEF7"/>
                </a:solidFill>
                <a:latin typeface="Aptos"/>
              </a:rPr>
              <a:t>Start Build opens a separate terminal with live output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>
                <a:solidFill>
                  <a:srgbClr val="E7EEF7"/>
                </a:solidFill>
                <a:latin typeface="Aptos"/>
              </a:rPr>
              <a:t>The UI is doing most of the environment work for the operator.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46520"/>
            <a:ext cx="6949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E8EEF4"/>
                </a:solidFill>
              </a:rPr>
              <a:t>PSUB | Operator Guide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E8EEF4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3F7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8138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E7EEF7"/>
                </a:solidFill>
                <a:latin typeface="Aptos Display"/>
              </a:rPr>
              <a:t>What We Verified On A Clean Machine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70432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8EEF4"/>
                </a:solidFill>
                <a:latin typeface="Aptos"/>
              </a:rPr>
              <a:t>Recent improvements that reduced operator friction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2148840" cy="1280160"/>
          </a:xfrm>
          <a:prstGeom prst="roundRect">
            <a:avLst/>
          </a:prstGeom>
          <a:solidFill>
            <a:srgbClr val="1B263B"/>
          </a:solidFill>
          <a:ln>
            <a:solidFill>
              <a:srgbClr val="415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2020823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BE5A"/>
                </a:solidFill>
              </a:rPr>
              <a:t>VS 2022 Pro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295143"/>
            <a:ext cx="16002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E7EEF7"/>
                </a:solidFill>
                <a:latin typeface="Aptos Display"/>
              </a:rPr>
              <a:t>Verified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90672" y="1874519"/>
            <a:ext cx="2148840" cy="1280160"/>
          </a:xfrm>
          <a:prstGeom prst="roundRect">
            <a:avLst/>
          </a:prstGeom>
          <a:solidFill>
            <a:srgbClr val="1B263B"/>
          </a:solidFill>
          <a:ln>
            <a:solidFill>
              <a:srgbClr val="415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2020823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BE5A"/>
                </a:solidFill>
              </a:rPr>
              <a:t>SDK field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295143"/>
            <a:ext cx="16002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E7EEF7"/>
                </a:solidFill>
                <a:latin typeface="Aptos Display"/>
              </a:rPr>
              <a:t>Autofilled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22976" y="1874519"/>
            <a:ext cx="2148840" cy="1280160"/>
          </a:xfrm>
          <a:prstGeom prst="roundRect">
            <a:avLst/>
          </a:prstGeom>
          <a:solidFill>
            <a:srgbClr val="1B263B"/>
          </a:solidFill>
          <a:ln>
            <a:solidFill>
              <a:srgbClr val="415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24144" y="2020823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BE5A"/>
                </a:solidFill>
              </a:rPr>
              <a:t>3.10 / 3.11 / 3.12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24144" y="2295143"/>
            <a:ext cx="16002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E7EEF7"/>
                </a:solidFill>
                <a:latin typeface="Aptos Display"/>
              </a:rPr>
              <a:t>Built successfully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611880"/>
            <a:ext cx="7406640" cy="2331720"/>
          </a:xfrm>
          <a:prstGeom prst="roundRect">
            <a:avLst/>
          </a:prstGeom>
          <a:solidFill>
            <a:srgbClr val="1B263B"/>
          </a:solidFill>
          <a:ln>
            <a:solidFill>
              <a:srgbClr val="415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776472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E6BE5A"/>
                </a:solidFill>
              </a:rPr>
              <a:t>Key Points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114800"/>
            <a:ext cx="705916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>
                <a:solidFill>
                  <a:srgbClr val="E7EEF7"/>
                </a:solidFill>
                <a:latin typeface="Aptos"/>
              </a:rPr>
              <a:t>Visual Studio Professional 2022 now works end-to-end on a new machine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>
                <a:solidFill>
                  <a:srgbClr val="E7EEF7"/>
                </a:solidFill>
                <a:latin typeface="Aptos"/>
              </a:rPr>
              <a:t>Bootstrap autodetect rejects WindowsApps aliases and finds real Python installs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>
                <a:solidFill>
                  <a:srgbClr val="E7EEF7"/>
                </a:solidFill>
                <a:latin typeface="Aptos"/>
              </a:rPr>
              <a:t>The Windows SDK field now prefills from autodetect instead of a stale default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>
                <a:solidFill>
                  <a:srgbClr val="E7EEF7"/>
                </a:solidFill>
                <a:latin typeface="Aptos"/>
              </a:rPr>
              <a:t>Python 3.10 MSI/doc handling and artifact naming are now more robust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>
                <a:solidFill>
                  <a:srgbClr val="E7EEF7"/>
                </a:solidFill>
                <a:latin typeface="Aptos"/>
              </a:rPr>
              <a:t>Git is now treated as recommended rather than a hard blocker in the UI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23960" y="1097280"/>
            <a:ext cx="2743200" cy="4937760"/>
          </a:xfrm>
          <a:prstGeom prst="roundRect">
            <a:avLst/>
          </a:prstGeom>
          <a:solidFill>
            <a:srgbClr val="1B263B"/>
          </a:solidFill>
          <a:ln>
            <a:solidFill>
              <a:srgbClr val="415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132588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E6BE5A"/>
                </a:solidFill>
              </a:rPr>
              <a:t>Operator Angle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1737360"/>
            <a:ext cx="2148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>
                <a:solidFill>
                  <a:srgbClr val="E7EEF7"/>
                </a:solidFill>
                <a:latin typeface="Aptos"/>
              </a:rPr>
              <a:t>These were practical fixes discovered during a fresh-machine setup, not just theoretical cleanup.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6446520"/>
            <a:ext cx="6949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E8EEF4"/>
                </a:solidFill>
              </a:rPr>
              <a:t>PSUB | Operator Guide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E8EEF4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3F7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8138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7EEF7"/>
                </a:solidFill>
                <a:latin typeface="Aptos Display"/>
              </a:rPr>
              <a:t>Common Failure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70432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8EEF4"/>
                </a:solidFill>
                <a:latin typeface="Aptos"/>
              </a:rPr>
              <a:t>Most blocked runs still fall into a short fixable list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83080"/>
            <a:ext cx="5349240" cy="4526280"/>
          </a:xfrm>
          <a:prstGeom prst="roundRect">
            <a:avLst/>
          </a:prstGeom>
          <a:solidFill>
            <a:srgbClr val="1B263B"/>
          </a:solidFill>
          <a:ln>
            <a:solidFill>
              <a:srgbClr val="CC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36208" y="1783080"/>
            <a:ext cx="5349240" cy="4526280"/>
          </a:xfrm>
          <a:prstGeom prst="roundRect">
            <a:avLst/>
          </a:prstGeom>
          <a:solidFill>
            <a:srgbClr val="1B263B"/>
          </a:solidFill>
          <a:ln>
            <a:solidFill>
              <a:srgbClr val="26A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8" y="1993392"/>
            <a:ext cx="1691640" cy="292608"/>
          </a:xfrm>
          <a:prstGeom prst="round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7EEF7"/>
                </a:solidFill>
              </a:rPr>
              <a:t>Common Failures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1993392"/>
            <a:ext cx="1600200" cy="292608"/>
          </a:xfrm>
          <a:prstGeom prst="roundRect">
            <a:avLst/>
          </a:prstGeom>
          <a:solidFill>
            <a:srgbClr val="26A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7EEF7"/>
                </a:solidFill>
              </a:rPr>
              <a:t>Operator 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316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500">
                <a:solidFill>
                  <a:srgbClr val="E7EEF7"/>
                </a:solidFill>
                <a:latin typeface="Aptos"/>
              </a:rPr>
              <a:t>Windows SDK or MSVC toolchains incomplete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500">
                <a:solidFill>
                  <a:srgbClr val="E7EEF7"/>
                </a:solidFill>
                <a:latin typeface="Aptos"/>
              </a:rPr>
              <a:t>Wrong bootstrap Python version or alias path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500">
                <a:solidFill>
                  <a:srgbClr val="E7EEF7"/>
                </a:solidFill>
                <a:latin typeface="Aptos"/>
              </a:rPr>
              <a:t>Missing doc-venv or Sphinx dependencies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500">
                <a:solidFill>
                  <a:srgbClr val="E7EEF7"/>
                </a:solidFill>
                <a:latin typeface="Aptos"/>
              </a:rPr>
              <a:t>Python 3.10 WiX or .NET 3.5 dependency issue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500">
                <a:solidFill>
                  <a:srgbClr val="E7EEF7"/>
                </a:solidFill>
                <a:latin typeface="Aptos"/>
              </a:rPr>
              <a:t>Git warnings from non-Git CPython source trees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42316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500">
                <a:solidFill>
                  <a:srgbClr val="E7EEF7"/>
                </a:solidFill>
                <a:latin typeface="Aptos"/>
              </a:rPr>
              <a:t>Use the setup guides linked by the prerequisites panel.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500">
                <a:solidFill>
                  <a:srgbClr val="E7EEF7"/>
                </a:solidFill>
                <a:latin typeface="Aptos"/>
              </a:rPr>
              <a:t>Switch to a real Python 3.10 or 3.12 executable.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500">
                <a:solidFill>
                  <a:srgbClr val="E7EEF7"/>
                </a:solidFill>
                <a:latin typeface="Aptos"/>
              </a:rPr>
              <a:t>Run Setup Virtual Environment before retrying.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500">
                <a:solidFill>
                  <a:srgbClr val="E7EEF7"/>
                </a:solidFill>
                <a:latin typeface="Aptos"/>
              </a:rPr>
              <a:t>Enable .NET Framework 3.5 for older 3.10 MSI flows.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500">
                <a:solidFill>
                  <a:srgbClr val="E7EEF7"/>
                </a:solidFill>
                <a:latin typeface="Aptos"/>
              </a:rPr>
              <a:t>Treat Git warnings as informational when building from extracted python.org archives.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46520"/>
            <a:ext cx="6949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E8EEF4"/>
                </a:solidFill>
              </a:rPr>
              <a:t>PSUB | Operator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E8EEF4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3F7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8138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7EEF7"/>
                </a:solidFill>
                <a:latin typeface="Aptos Display"/>
              </a:rPr>
              <a:t>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70432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E8EEF4"/>
                </a:solidFill>
                <a:latin typeface="Aptos"/>
              </a:rPr>
              <a:t>What operators should remember after the walkthrough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2148840" cy="1280160"/>
          </a:xfrm>
          <a:prstGeom prst="roundRect">
            <a:avLst/>
          </a:prstGeom>
          <a:solidFill>
            <a:srgbClr val="1B263B"/>
          </a:solidFill>
          <a:ln>
            <a:solidFill>
              <a:srgbClr val="415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2020823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BE5A"/>
                </a:solidFill>
              </a:rPr>
              <a:t>One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295143"/>
            <a:ext cx="16002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E7EEF7"/>
                </a:solidFill>
                <a:latin typeface="Aptos Display"/>
              </a:rPr>
              <a:t>Less operator drift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90672" y="1874519"/>
            <a:ext cx="2148840" cy="1280160"/>
          </a:xfrm>
          <a:prstGeom prst="roundRect">
            <a:avLst/>
          </a:prstGeom>
          <a:solidFill>
            <a:srgbClr val="1B263B"/>
          </a:solidFill>
          <a:ln>
            <a:solidFill>
              <a:srgbClr val="415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2020823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BE5A"/>
                </a:solidFill>
              </a:rPr>
              <a:t>Preflight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295143"/>
            <a:ext cx="16002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E7EEF7"/>
                </a:solidFill>
                <a:latin typeface="Aptos Display"/>
              </a:rPr>
              <a:t>Fewer failed runs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22976" y="1874519"/>
            <a:ext cx="2148840" cy="1280160"/>
          </a:xfrm>
          <a:prstGeom prst="roundRect">
            <a:avLst/>
          </a:prstGeom>
          <a:solidFill>
            <a:srgbClr val="1B263B"/>
          </a:solidFill>
          <a:ln>
            <a:solidFill>
              <a:srgbClr val="415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24144" y="2020823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6BE5A"/>
                </a:solidFill>
              </a:rPr>
              <a:t>Repeatable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24144" y="2295143"/>
            <a:ext cx="16002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E7EEF7"/>
                </a:solidFill>
                <a:latin typeface="Aptos Display"/>
              </a:rPr>
              <a:t>UI plus CLI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611880"/>
            <a:ext cx="7406640" cy="2331720"/>
          </a:xfrm>
          <a:prstGeom prst="roundRect">
            <a:avLst/>
          </a:prstGeom>
          <a:solidFill>
            <a:srgbClr val="1B263B"/>
          </a:solidFill>
          <a:ln>
            <a:solidFill>
              <a:srgbClr val="415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776472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E6BE5A"/>
                </a:solidFill>
              </a:rPr>
              <a:t>Key Points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114800"/>
            <a:ext cx="705916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400">
                <a:solidFill>
                  <a:srgbClr val="E7EEF7"/>
                </a:solidFill>
                <a:latin typeface="Aptos"/>
              </a:rPr>
              <a:t>Treat PSUB as the primary operator entry point for Windows Python release builds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400">
                <a:solidFill>
                  <a:srgbClr val="E7EEF7"/>
                </a:solidFill>
                <a:latin typeface="Aptos"/>
              </a:rPr>
              <a:t>Trust the prerequisite panel before starting a long build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400">
                <a:solidFill>
                  <a:srgbClr val="E7EEF7"/>
                </a:solidFill>
                <a:latin typeface="Aptos"/>
              </a:rPr>
              <a:t>Use the UI for clarity and the CLI when you need scripted repeatability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23960" y="1097280"/>
            <a:ext cx="2743200" cy="4937760"/>
          </a:xfrm>
          <a:prstGeom prst="roundRect">
            <a:avLst/>
          </a:prstGeom>
          <a:solidFill>
            <a:srgbClr val="1B263B"/>
          </a:solidFill>
          <a:ln>
            <a:solidFill>
              <a:srgbClr val="415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132588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E6BE5A"/>
                </a:solidFill>
              </a:rPr>
              <a:t>Operator Angle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1737360"/>
            <a:ext cx="2148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>
                <a:solidFill>
                  <a:srgbClr val="E7EEF7"/>
                </a:solidFill>
                <a:latin typeface="Aptos"/>
              </a:rPr>
              <a:t>If the machine is green and bootstrap Python is real, the rest of the workflow becomes predictable.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6446520"/>
            <a:ext cx="6949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E8EEF4"/>
                </a:solidFill>
              </a:rPr>
              <a:t>PSUB | Operator Guide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E8EEF4"/>
                </a:solidFill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