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21792" y="868680"/>
            <a:ext cx="1508760" cy="82296"/>
          </a:xfrm>
          <a:prstGeom prst="rect">
            <a:avLst/>
          </a:prstGeom>
          <a:solidFill>
            <a:srgbClr val="E6BE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81381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E7EEF7"/>
                </a:solidFill>
                <a:latin typeface="Aptos Display"/>
              </a:rPr>
              <a:t>PSUB Operator Guide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170432"/>
            <a:ext cx="7680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E8EEF4"/>
                </a:solidFill>
                <a:latin typeface="Aptos"/>
              </a:rPr>
              <a:t>Building Python security releases on Windows with the PSUB web UI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5440680"/>
            <a:ext cx="3246120" cy="292608"/>
          </a:xfrm>
          <a:prstGeom prst="roundRect">
            <a:avLst/>
          </a:prstGeom>
          <a:solidFill>
            <a:srgbClr val="E6BE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21B26"/>
                </a:solidFill>
              </a:rPr>
              <a:t>Supported versions: 3.10.x, 3.11.x, 3.12.x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46520"/>
            <a:ext cx="6949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E8EEF4"/>
                </a:solidFill>
              </a:rPr>
              <a:t>PSUB | Operator Guide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E8EEF4"/>
                </a:solidFill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3F72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81381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E7EEF7"/>
                </a:solidFill>
                <a:latin typeface="Aptos Display"/>
              </a:rPr>
              <a:t>What PSUB Does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170432"/>
            <a:ext cx="7680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E8EEF4"/>
                </a:solidFill>
                <a:latin typeface="Aptos"/>
              </a:rPr>
              <a:t>A practical operator workflow from preflight to deliverables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280" y="2880360"/>
            <a:ext cx="9966960" cy="54864"/>
          </a:xfrm>
          <a:prstGeom prst="rect">
            <a:avLst/>
          </a:prstGeom>
          <a:solidFill>
            <a:srgbClr val="415A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85800" y="2331720"/>
            <a:ext cx="1051560" cy="1051560"/>
          </a:xfrm>
          <a:prstGeom prst="roundRect">
            <a:avLst/>
          </a:prstGeom>
          <a:solidFill>
            <a:srgbClr val="3F72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E7EEF7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132588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E7EEF7"/>
                </a:solidFill>
              </a:rPr>
              <a:t>Validate prerequisites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993392" y="2331720"/>
            <a:ext cx="1051560" cy="1051560"/>
          </a:xfrm>
          <a:prstGeom prst="roundRect">
            <a:avLst/>
          </a:prstGeom>
          <a:solidFill>
            <a:srgbClr val="415A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E7EEF7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56232" y="3520440"/>
            <a:ext cx="132588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E7EEF7"/>
                </a:solidFill>
              </a:rPr>
              <a:t>Point PSUB at extracted CPython source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00984" y="2331720"/>
            <a:ext cx="1051560" cy="1051560"/>
          </a:xfrm>
          <a:prstGeom prst="roundRect">
            <a:avLst/>
          </a:prstGeom>
          <a:solidFill>
            <a:srgbClr val="3F72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E7EEF7"/>
                </a:solidFill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63824" y="3520440"/>
            <a:ext cx="132588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E7EEF7"/>
                </a:solidFill>
              </a:rPr>
              <a:t>Prepare the documentation virtual environment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2331720"/>
            <a:ext cx="1051560" cy="1051560"/>
          </a:xfrm>
          <a:prstGeom prst="roundRect">
            <a:avLst/>
          </a:prstGeom>
          <a:solidFill>
            <a:srgbClr val="415A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E7EEF7"/>
                </a:solidFill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71416" y="3520440"/>
            <a:ext cx="132588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E7EEF7"/>
                </a:solidFill>
              </a:rPr>
              <a:t>Launch the build in a dedicated terminal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16168" y="2331720"/>
            <a:ext cx="1051560" cy="1051560"/>
          </a:xfrm>
          <a:prstGeom prst="roundRect">
            <a:avLst/>
          </a:prstGeom>
          <a:solidFill>
            <a:srgbClr val="3F72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E7EEF7"/>
                </a:solidFill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79008" y="3520440"/>
            <a:ext cx="132588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E7EEF7"/>
                </a:solidFill>
              </a:rPr>
              <a:t>Review logs and collect EXE, MSI, and embed artifacts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23960" y="1097280"/>
            <a:ext cx="2743200" cy="4937760"/>
          </a:xfrm>
          <a:prstGeom prst="roundRect">
            <a:avLst/>
          </a:prstGeom>
          <a:solidFill>
            <a:srgbClr val="1B263B"/>
          </a:solidFill>
          <a:ln>
            <a:solidFill>
              <a:srgbClr val="415A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98280" y="1325880"/>
            <a:ext cx="2194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500">
                <a:solidFill>
                  <a:srgbClr val="E6BE5A"/>
                </a:solidFill>
              </a:rPr>
              <a:t>Operator Tips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98280" y="1737360"/>
            <a:ext cx="2148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E7EEF7"/>
                </a:solidFill>
                <a:latin typeface="Aptos"/>
              </a:rPr>
              <a:t>Primary operator path is the local web UI on port 8080.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E7EEF7"/>
                </a:solidFill>
                <a:latin typeface="Aptos"/>
              </a:rPr>
              <a:t>CLI remains available for repeatable scripted runs.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6446520"/>
            <a:ext cx="6949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E8EEF4"/>
                </a:solidFill>
              </a:rPr>
              <a:t>PSUB | Operator Guide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E8EEF4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3F72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81381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E7EEF7"/>
                </a:solidFill>
                <a:latin typeface="Aptos Display"/>
              </a:rPr>
              <a:t>Before You Start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170432"/>
            <a:ext cx="7680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E8EEF4"/>
                </a:solidFill>
                <a:latin typeface="Aptos"/>
              </a:rPr>
              <a:t>Environment prerequisites to clear before opening PSUB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7818120" cy="4480560"/>
          </a:xfrm>
          <a:prstGeom prst="roundRect">
            <a:avLst/>
          </a:prstGeom>
          <a:solidFill>
            <a:srgbClr val="1B263B"/>
          </a:solidFill>
          <a:ln>
            <a:solidFill>
              <a:srgbClr val="415A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41248" y="2029968"/>
            <a:ext cx="256032" cy="256032"/>
          </a:xfrm>
          <a:prstGeom prst="ellipse">
            <a:avLst/>
          </a:prstGeom>
          <a:solidFill>
            <a:srgbClr val="26A6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0432" y="1993392"/>
            <a:ext cx="68122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E7EEF7"/>
                </a:solidFill>
              </a:rPr>
              <a:t>Visual Studio 2019 or 2022 with Desktop development with C++</a:t>
            </a:r>
          </a:p>
        </p:txBody>
      </p:sp>
      <p:sp>
        <p:nvSpPr>
          <p:cNvPr id="9" name="Oval 8"/>
          <p:cNvSpPr/>
          <p:nvPr/>
        </p:nvSpPr>
        <p:spPr>
          <a:xfrm>
            <a:off x="841248" y="2642616"/>
            <a:ext cx="256032" cy="256032"/>
          </a:xfrm>
          <a:prstGeom prst="ellipse">
            <a:avLst/>
          </a:prstGeom>
          <a:solidFill>
            <a:srgbClr val="26A6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0432" y="2606040"/>
            <a:ext cx="68122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E7EEF7"/>
                </a:solidFill>
              </a:rPr>
              <a:t>MSVC toolchains including x64, x86, and ARM64</a:t>
            </a:r>
          </a:p>
        </p:txBody>
      </p:sp>
      <p:sp>
        <p:nvSpPr>
          <p:cNvPr id="11" name="Oval 10"/>
          <p:cNvSpPr/>
          <p:nvPr/>
        </p:nvSpPr>
        <p:spPr>
          <a:xfrm>
            <a:off x="841248" y="3255264"/>
            <a:ext cx="256032" cy="256032"/>
          </a:xfrm>
          <a:prstGeom prst="ellipse">
            <a:avLst/>
          </a:prstGeom>
          <a:solidFill>
            <a:srgbClr val="26A6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70432" y="3218688"/>
            <a:ext cx="68122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E7EEF7"/>
                </a:solidFill>
              </a:rPr>
              <a:t>Windows 10 SDK 10.0.19041.0 or later</a:t>
            </a:r>
          </a:p>
        </p:txBody>
      </p:sp>
      <p:sp>
        <p:nvSpPr>
          <p:cNvPr id="13" name="Oval 12"/>
          <p:cNvSpPr/>
          <p:nvPr/>
        </p:nvSpPr>
        <p:spPr>
          <a:xfrm>
            <a:off x="841248" y="3867912"/>
            <a:ext cx="256032" cy="256032"/>
          </a:xfrm>
          <a:prstGeom prst="ellipse">
            <a:avLst/>
          </a:prstGeom>
          <a:solidFill>
            <a:srgbClr val="26A6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70432" y="3831336"/>
            <a:ext cx="68122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E7EEF7"/>
                </a:solidFill>
              </a:rPr>
              <a:t>Bootstrap Python 3.10 or 3.12</a:t>
            </a:r>
          </a:p>
        </p:txBody>
      </p:sp>
      <p:sp>
        <p:nvSpPr>
          <p:cNvPr id="15" name="Oval 14"/>
          <p:cNvSpPr/>
          <p:nvPr/>
        </p:nvSpPr>
        <p:spPr>
          <a:xfrm>
            <a:off x="841248" y="4480560"/>
            <a:ext cx="256032" cy="256032"/>
          </a:xfrm>
          <a:prstGeom prst="ellipse">
            <a:avLst/>
          </a:prstGeom>
          <a:solidFill>
            <a:srgbClr val="26A6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70432" y="4443984"/>
            <a:ext cx="68122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E7EEF7"/>
                </a:solidFill>
              </a:rPr>
              <a:t>Git for Windows on PATH</a:t>
            </a:r>
          </a:p>
        </p:txBody>
      </p:sp>
      <p:sp>
        <p:nvSpPr>
          <p:cNvPr id="17" name="Oval 16"/>
          <p:cNvSpPr/>
          <p:nvPr/>
        </p:nvSpPr>
        <p:spPr>
          <a:xfrm>
            <a:off x="841248" y="5093208"/>
            <a:ext cx="256032" cy="256032"/>
          </a:xfrm>
          <a:prstGeom prst="ellipse">
            <a:avLst/>
          </a:prstGeom>
          <a:solidFill>
            <a:srgbClr val="D8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70432" y="5056632"/>
            <a:ext cx="68122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E7EEF7"/>
                </a:solidFill>
              </a:rPr>
              <a:t>.NET Framework 3.5 for legacy Python 3.10 MSI flows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823960" y="1097280"/>
            <a:ext cx="2743200" cy="4937760"/>
          </a:xfrm>
          <a:prstGeom prst="roundRect">
            <a:avLst/>
          </a:prstGeom>
          <a:solidFill>
            <a:srgbClr val="1B263B"/>
          </a:solidFill>
          <a:ln>
            <a:solidFill>
              <a:srgbClr val="415A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98280" y="1325880"/>
            <a:ext cx="2194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500">
                <a:solidFill>
                  <a:srgbClr val="E6BE5A"/>
                </a:solidFill>
              </a:rPr>
              <a:t>Requirements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98280" y="1737360"/>
            <a:ext cx="2148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E7EEF7"/>
                </a:solidFill>
                <a:latin typeface="Aptos"/>
              </a:rPr>
              <a:t>PSUB highlights missing items and links directly to setup guides.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E7EEF7"/>
                </a:solidFill>
                <a:latin typeface="Aptos"/>
              </a:rPr>
              <a:t>Do not use Python 3.13 as the bootstrap interpreter.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6446520"/>
            <a:ext cx="6949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E8EEF4"/>
                </a:solidFill>
              </a:rPr>
              <a:t>PSUB | Operator Guide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E8EEF4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3F72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81381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E7EEF7"/>
                </a:solidFill>
                <a:latin typeface="Aptos Display"/>
              </a:rPr>
              <a:t>Launch PSUB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170432"/>
            <a:ext cx="7680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E8EEF4"/>
                </a:solidFill>
                <a:latin typeface="Aptos"/>
              </a:rPr>
              <a:t>Start the local web UI and open it in a browser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664208"/>
            <a:ext cx="7818120" cy="4434840"/>
          </a:xfrm>
          <a:prstGeom prst="roundRect">
            <a:avLst/>
          </a:prstGeom>
          <a:solidFill>
            <a:srgbClr val="F5F8FC"/>
          </a:solidFill>
          <a:ln>
            <a:solidFill>
              <a:srgbClr val="415A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1-home-overview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667512" y="1828800"/>
            <a:ext cx="7498079" cy="41148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823960" y="1097280"/>
            <a:ext cx="2743200" cy="4937760"/>
          </a:xfrm>
          <a:prstGeom prst="roundRect">
            <a:avLst/>
          </a:prstGeom>
          <a:solidFill>
            <a:srgbClr val="1B263B"/>
          </a:solidFill>
          <a:ln>
            <a:solidFill>
              <a:srgbClr val="415A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98280" y="1325880"/>
            <a:ext cx="2194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500">
                <a:solidFill>
                  <a:srgbClr val="E6BE5A"/>
                </a:solidFill>
              </a:rPr>
              <a:t>Operator Tips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98280" y="1737360"/>
            <a:ext cx="2148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E7EEF7"/>
                </a:solidFill>
                <a:latin typeface="Aptos"/>
              </a:rPr>
              <a:t>Run .\Script\Build-PythonRelease-UI-Simple.ps1 -Port 8080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E7EEF7"/>
                </a:solidFill>
                <a:latin typeface="Aptos"/>
              </a:rPr>
              <a:t>Open http://localhost:8080/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E7EEF7"/>
                </a:solidFill>
                <a:latin typeface="Aptos"/>
              </a:rPr>
              <a:t>The build itself opens in a new terminal window with live output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E7EEF7"/>
                </a:solidFill>
                <a:latin typeface="Aptos"/>
              </a:rPr>
              <a:t>Default operator entry point is the web UI rather than the CLI script.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6446520"/>
            <a:ext cx="6949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E8EEF4"/>
                </a:solidFill>
              </a:rPr>
              <a:t>PSUB | Operator Guide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E8EEF4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3F72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81381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E7EEF7"/>
                </a:solidFill>
                <a:latin typeface="Aptos Display"/>
              </a:rPr>
              <a:t>Check Prerequisites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170432"/>
            <a:ext cx="7680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E8EEF4"/>
                </a:solidFill>
                <a:latin typeface="Aptos"/>
              </a:rPr>
              <a:t>Use the left-side panel as your environment readiness gate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664208"/>
            <a:ext cx="7818120" cy="4434840"/>
          </a:xfrm>
          <a:prstGeom prst="roundRect">
            <a:avLst/>
          </a:prstGeom>
          <a:solidFill>
            <a:srgbClr val="F5F8FC"/>
          </a:solidFill>
          <a:ln>
            <a:solidFill>
              <a:srgbClr val="415A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2-prerequisites-panel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667512" y="1828800"/>
            <a:ext cx="7498079" cy="41148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823960" y="1097280"/>
            <a:ext cx="2743200" cy="4937760"/>
          </a:xfrm>
          <a:prstGeom prst="roundRect">
            <a:avLst/>
          </a:prstGeom>
          <a:solidFill>
            <a:srgbClr val="1B263B"/>
          </a:solidFill>
          <a:ln>
            <a:solidFill>
              <a:srgbClr val="415A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98280" y="1325880"/>
            <a:ext cx="2194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500">
                <a:solidFill>
                  <a:srgbClr val="E6BE5A"/>
                </a:solidFill>
              </a:rPr>
              <a:t>Operator Tips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98280" y="1737360"/>
            <a:ext cx="2148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E7EEF7"/>
                </a:solidFill>
                <a:latin typeface="Aptos"/>
              </a:rPr>
              <a:t>Refresh the prerequisite check when the machine changes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E7EEF7"/>
                </a:solidFill>
                <a:latin typeface="Aptos"/>
              </a:rPr>
              <a:t>Read the summary banner before entering any build values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E7EEF7"/>
                </a:solidFill>
                <a:latin typeface="Aptos"/>
              </a:rPr>
              <a:t>Follow setup-guide links for missing tools or SDK components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E7EEF7"/>
                </a:solidFill>
                <a:latin typeface="Aptos"/>
              </a:rPr>
              <a:t>The panel covers Visual Studio, toolchains, SDK, bootstrap Python, and Git.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6446520"/>
            <a:ext cx="6949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E8EEF4"/>
                </a:solidFill>
              </a:rPr>
              <a:t>PSUB | Operator Guide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E8EEF4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3F72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81381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E7EEF7"/>
                </a:solidFill>
                <a:latin typeface="Aptos Display"/>
              </a:rPr>
              <a:t>Prepare Build Settings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170432"/>
            <a:ext cx="7680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E8EEF4"/>
                </a:solidFill>
                <a:latin typeface="Aptos"/>
              </a:rPr>
              <a:t>Standard settings define the reusable defaults for each run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664208"/>
            <a:ext cx="7818120" cy="4434840"/>
          </a:xfrm>
          <a:prstGeom prst="roundRect">
            <a:avLst/>
          </a:prstGeom>
          <a:solidFill>
            <a:srgbClr val="F5F8FC"/>
          </a:solidFill>
          <a:ln>
            <a:solidFill>
              <a:srgbClr val="415A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3-standard-build-settings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667512" y="1828800"/>
            <a:ext cx="7498079" cy="41148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823960" y="1097280"/>
            <a:ext cx="2743200" cy="4937760"/>
          </a:xfrm>
          <a:prstGeom prst="roundRect">
            <a:avLst/>
          </a:prstGeom>
          <a:solidFill>
            <a:srgbClr val="1B263B"/>
          </a:solidFill>
          <a:ln>
            <a:solidFill>
              <a:srgbClr val="415A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98280" y="1325880"/>
            <a:ext cx="2194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500">
                <a:solidFill>
                  <a:srgbClr val="E6BE5A"/>
                </a:solidFill>
              </a:rPr>
              <a:t>Operator Tips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98280" y="1737360"/>
            <a:ext cx="2148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E7EEF7"/>
                </a:solidFill>
                <a:latin typeface="Aptos"/>
              </a:rPr>
              <a:t>Keep the documentation venv name at doc-venv unless you have a reason to change it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E7EEF7"/>
                </a:solidFill>
                <a:latin typeface="Aptos"/>
              </a:rPr>
              <a:t>Choose the release output directory where final packages and zip files should land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E7EEF7"/>
                </a:solidFill>
                <a:latin typeface="Aptos"/>
              </a:rPr>
              <a:t>Set the Windows SDK version expected by the CPython build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E7EEF7"/>
                </a:solidFill>
                <a:latin typeface="Aptos"/>
              </a:rPr>
              <a:t>Use Setup Virtual Environment before the first build on a new source tree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E7EEF7"/>
                </a:solidFill>
                <a:latin typeface="Aptos"/>
              </a:rPr>
              <a:t>PSUB can create or update the documentation venv from the UI.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6446520"/>
            <a:ext cx="6949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E8EEF4"/>
                </a:solidFill>
              </a:rPr>
              <a:t>PSUB | Operator Guide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E8EEF4"/>
                </a:solidFill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3F72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81381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E7EEF7"/>
                </a:solidFill>
                <a:latin typeface="Aptos Display"/>
              </a:rPr>
              <a:t>Configure and Start a Build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170432"/>
            <a:ext cx="7680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E8EEF4"/>
                </a:solidFill>
                <a:latin typeface="Aptos"/>
              </a:rPr>
              <a:t>Fill in the CPython source and bootstrap interpreter, then launch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664208"/>
            <a:ext cx="7818120" cy="4434840"/>
          </a:xfrm>
          <a:prstGeom prst="roundRect">
            <a:avLst/>
          </a:prstGeom>
          <a:solidFill>
            <a:srgbClr val="F5F8FC"/>
          </a:solidFill>
          <a:ln>
            <a:solidFill>
              <a:srgbClr val="415A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4-build-configuration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667512" y="1828800"/>
            <a:ext cx="7498079" cy="41148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823960" y="1097280"/>
            <a:ext cx="2743200" cy="4937760"/>
          </a:xfrm>
          <a:prstGeom prst="roundRect">
            <a:avLst/>
          </a:prstGeom>
          <a:solidFill>
            <a:srgbClr val="1B263B"/>
          </a:solidFill>
          <a:ln>
            <a:solidFill>
              <a:srgbClr val="415A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98280" y="1325880"/>
            <a:ext cx="2194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500">
                <a:solidFill>
                  <a:srgbClr val="E6BE5A"/>
                </a:solidFill>
              </a:rPr>
              <a:t>Operator Tips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98280" y="1737360"/>
            <a:ext cx="2148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E7EEF7"/>
                </a:solidFill>
                <a:latin typeface="Aptos"/>
              </a:rPr>
              <a:t>SourcePath must point at the extracted CPython root containing PCbuild and Tools\msi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E7EEF7"/>
                </a:solidFill>
                <a:latin typeface="Aptos"/>
              </a:rPr>
              <a:t>Bootstrap Python must be 3.10 or 3.12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E7EEF7"/>
                </a:solidFill>
                <a:latin typeface="Aptos"/>
              </a:rPr>
              <a:t>Use Auto-Detect to prefill a compatible local Python path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E7EEF7"/>
                </a:solidFill>
                <a:latin typeface="Aptos"/>
              </a:rPr>
              <a:t>Start Build opens a dedicated terminal and PSUB polls build status in the page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E7EEF7"/>
                </a:solidFill>
                <a:latin typeface="Aptos"/>
              </a:rPr>
              <a:t>The UI blocks empty SourcePath and BootstrapPython values before it starts the build.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6446520"/>
            <a:ext cx="6949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E8EEF4"/>
                </a:solidFill>
              </a:rPr>
              <a:t>PSUB | Operator Guide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E8EEF4"/>
                </a:solidFill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3F72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81381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E7EEF7"/>
                </a:solidFill>
                <a:latin typeface="Aptos Display"/>
              </a:rPr>
              <a:t>Monitor Logs and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170432"/>
            <a:ext cx="7680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E8EEF4"/>
                </a:solidFill>
                <a:latin typeface="Aptos"/>
              </a:rPr>
              <a:t>Use inline status and the log viewer to validate the run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664208"/>
            <a:ext cx="7818120" cy="4434840"/>
          </a:xfrm>
          <a:prstGeom prst="roundRect">
            <a:avLst/>
          </a:prstGeom>
          <a:solidFill>
            <a:srgbClr val="F5F8FC"/>
          </a:solidFill>
          <a:ln>
            <a:solidFill>
              <a:srgbClr val="415A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6-build-log-or-status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667512" y="1828800"/>
            <a:ext cx="7498079" cy="41148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823960" y="1097280"/>
            <a:ext cx="2743200" cy="4937760"/>
          </a:xfrm>
          <a:prstGeom prst="roundRect">
            <a:avLst/>
          </a:prstGeom>
          <a:solidFill>
            <a:srgbClr val="1B263B"/>
          </a:solidFill>
          <a:ln>
            <a:solidFill>
              <a:srgbClr val="415A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98280" y="1325880"/>
            <a:ext cx="2194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500">
                <a:solidFill>
                  <a:srgbClr val="E6BE5A"/>
                </a:solidFill>
              </a:rPr>
              <a:t>Operator Tips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98280" y="1737360"/>
            <a:ext cx="2148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E7EEF7"/>
                </a:solidFill>
                <a:latin typeface="Aptos"/>
              </a:rPr>
              <a:t>Open Latest Log to inspect the captured run output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E7EEF7"/>
                </a:solidFill>
                <a:latin typeface="Aptos"/>
              </a:rPr>
              <a:t>Watch button and status-color changes for running, success, or failure states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E7EEF7"/>
                </a:solidFill>
                <a:latin typeface="Aptos"/>
              </a:rPr>
              <a:t>Collect release artifacts from the configured release root and CPbuild\amd64\en-us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E7EEF7"/>
                </a:solidFill>
                <a:latin typeface="Aptos"/>
              </a:rPr>
              <a:t>If a real build state is not staged, use the screenshot with the log button highlighted and explain the expected transitions.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6446520"/>
            <a:ext cx="6949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E8EEF4"/>
                </a:solidFill>
              </a:rPr>
              <a:t>PSUB | Operator Guide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E8EEF4"/>
                </a:solidFill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3F72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81381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E7EEF7"/>
                </a:solidFill>
                <a:latin typeface="Aptos Display"/>
              </a:rPr>
              <a:t>Common Failure Cases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170432"/>
            <a:ext cx="7680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E8EEF4"/>
                </a:solidFill>
                <a:latin typeface="Aptos"/>
              </a:rPr>
              <a:t>Most blocked runs fall into a small set of operator-fixable issues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83080"/>
            <a:ext cx="5349240" cy="4526280"/>
          </a:xfrm>
          <a:prstGeom prst="roundRect">
            <a:avLst/>
          </a:prstGeom>
          <a:solidFill>
            <a:srgbClr val="1B263B"/>
          </a:solidFill>
          <a:ln>
            <a:solidFill>
              <a:srgbClr val="CC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36208" y="1783080"/>
            <a:ext cx="5349240" cy="4526280"/>
          </a:xfrm>
          <a:prstGeom prst="roundRect">
            <a:avLst/>
          </a:prstGeom>
          <a:solidFill>
            <a:srgbClr val="1B263B"/>
          </a:solidFill>
          <a:ln>
            <a:solidFill>
              <a:srgbClr val="26A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41248" y="1993392"/>
            <a:ext cx="1691640" cy="292608"/>
          </a:xfrm>
          <a:prstGeom prst="roundRect">
            <a:avLst/>
          </a:prstGeom>
          <a:solidFill>
            <a:srgbClr val="CC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E7EEF7"/>
                </a:solidFill>
              </a:rPr>
              <a:t>Common Failures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37960" y="1993392"/>
            <a:ext cx="1600200" cy="292608"/>
          </a:xfrm>
          <a:prstGeom prst="roundRect">
            <a:avLst/>
          </a:prstGeom>
          <a:solidFill>
            <a:srgbClr val="26A6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E7EEF7"/>
                </a:solidFill>
              </a:rPr>
              <a:t>Operator Actions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423160"/>
            <a:ext cx="46634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E7EEF7"/>
                </a:solidFill>
                <a:latin typeface="Aptos"/>
              </a:rPr>
              <a:t>Git missing from PATH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E7EEF7"/>
                </a:solidFill>
                <a:latin typeface="Aptos"/>
              </a:rPr>
              <a:t>Windows SDK or MSVC toolchains not fully installed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E7EEF7"/>
                </a:solidFill>
                <a:latin typeface="Aptos"/>
              </a:rPr>
              <a:t>Wrong bootstrap Python version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E7EEF7"/>
                </a:solidFill>
                <a:latin typeface="Aptos"/>
              </a:rPr>
              <a:t>Missing doc-venv or missing Sphinx dependencies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E7EEF7"/>
                </a:solidFill>
                <a:latin typeface="Aptos"/>
              </a:rPr>
              <a:t>Python 3.10 WiX /.NET 3.5 dependency problem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E7EEF7"/>
                </a:solidFill>
                <a:latin typeface="Aptos"/>
              </a:rPr>
              <a:t>buildrelease.bat reports Build FAILED even when exit code is 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423160"/>
            <a:ext cx="46634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E7EEF7"/>
                </a:solidFill>
                <a:latin typeface="Aptos"/>
              </a:rPr>
              <a:t>Install Git for Windows and restart the shell.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E7EEF7"/>
                </a:solidFill>
                <a:latin typeface="Aptos"/>
              </a:rPr>
              <a:t>Use the setup guides linked by the prerequisites panel.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E7EEF7"/>
                </a:solidFill>
                <a:latin typeface="Aptos"/>
              </a:rPr>
              <a:t>Switch to Python 3.10 or 3.12 only.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E7EEF7"/>
                </a:solidFill>
                <a:latin typeface="Aptos"/>
              </a:rPr>
              <a:t>Run Setup Virtual Environment or install Doc\requirements.txt into the venv.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E7EEF7"/>
                </a:solidFill>
                <a:latin typeface="Aptos"/>
              </a:rPr>
              <a:t>Enable .NET Framework 3.5 and rerun MSI externals for 3.10 flows.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E7EEF7"/>
                </a:solidFill>
                <a:latin typeface="Aptos"/>
              </a:rPr>
              <a:t>Trust PSUB's output-based failure guard instead of the batch file exit code alone.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46520"/>
            <a:ext cx="6949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E8EEF4"/>
                </a:solidFill>
              </a:rPr>
              <a:t>PSUB | Operator Guide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E8EEF4"/>
                </a:solidFill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3F72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81381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E7EEF7"/>
                </a:solidFill>
                <a:latin typeface="Aptos Display"/>
              </a:rPr>
              <a:t>Standard Operator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170432"/>
            <a:ext cx="7680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E8EEF4"/>
                </a:solidFill>
                <a:latin typeface="Aptos"/>
              </a:rPr>
              <a:t>The repeatable PSUB sequence for a clean release run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280" y="2880360"/>
            <a:ext cx="9966960" cy="54864"/>
          </a:xfrm>
          <a:prstGeom prst="rect">
            <a:avLst/>
          </a:prstGeom>
          <a:solidFill>
            <a:srgbClr val="415A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85800" y="2331720"/>
            <a:ext cx="1051560" cy="1051560"/>
          </a:xfrm>
          <a:prstGeom prst="roundRect">
            <a:avLst/>
          </a:prstGeom>
          <a:solidFill>
            <a:srgbClr val="3F72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E7EEF7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132588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E7EEF7"/>
                </a:solidFill>
              </a:rPr>
              <a:t>Verify prerequisites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993392" y="2331720"/>
            <a:ext cx="1051560" cy="1051560"/>
          </a:xfrm>
          <a:prstGeom prst="roundRect">
            <a:avLst/>
          </a:prstGeom>
          <a:solidFill>
            <a:srgbClr val="415A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E7EEF7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56232" y="3520440"/>
            <a:ext cx="132588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E7EEF7"/>
                </a:solidFill>
              </a:rPr>
              <a:t>Open the UI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00984" y="2331720"/>
            <a:ext cx="1051560" cy="1051560"/>
          </a:xfrm>
          <a:prstGeom prst="roundRect">
            <a:avLst/>
          </a:prstGeom>
          <a:solidFill>
            <a:srgbClr val="3F72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E7EEF7"/>
                </a:solidFill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63824" y="3520440"/>
            <a:ext cx="132588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E7EEF7"/>
                </a:solidFill>
              </a:rPr>
              <a:t>Confirm environment health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2331720"/>
            <a:ext cx="1051560" cy="1051560"/>
          </a:xfrm>
          <a:prstGeom prst="roundRect">
            <a:avLst/>
          </a:prstGeom>
          <a:solidFill>
            <a:srgbClr val="415A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E7EEF7"/>
                </a:solidFill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71416" y="3520440"/>
            <a:ext cx="132588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E7EEF7"/>
                </a:solidFill>
              </a:rPr>
              <a:t>Set SourcePath and BootstrapPython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16168" y="2331720"/>
            <a:ext cx="1051560" cy="1051560"/>
          </a:xfrm>
          <a:prstGeom prst="roundRect">
            <a:avLst/>
          </a:prstGeom>
          <a:solidFill>
            <a:srgbClr val="3F72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E7EEF7"/>
                </a:solidFill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79008" y="3520440"/>
            <a:ext cx="132588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E7EEF7"/>
                </a:solidFill>
              </a:rPr>
              <a:t>Create or refresh doc-venv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23760" y="2331720"/>
            <a:ext cx="1051560" cy="1051560"/>
          </a:xfrm>
          <a:prstGeom prst="roundRect">
            <a:avLst/>
          </a:prstGeom>
          <a:solidFill>
            <a:srgbClr val="415A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E7EEF7"/>
                </a:solidFill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86600" y="3520440"/>
            <a:ext cx="132588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E7EEF7"/>
                </a:solidFill>
              </a:rPr>
              <a:t>Start the build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31352" y="2331720"/>
            <a:ext cx="1051560" cy="1051560"/>
          </a:xfrm>
          <a:prstGeom prst="roundRect">
            <a:avLst/>
          </a:prstGeom>
          <a:solidFill>
            <a:srgbClr val="3F72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E7EEF7"/>
                </a:solidFill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94192" y="3520440"/>
            <a:ext cx="132588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E7EEF7"/>
                </a:solidFill>
              </a:rPr>
              <a:t>Review the log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838944" y="2331720"/>
            <a:ext cx="1051560" cy="1051560"/>
          </a:xfrm>
          <a:prstGeom prst="roundRect">
            <a:avLst/>
          </a:prstGeom>
          <a:solidFill>
            <a:srgbClr val="415A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E7EEF7"/>
                </a:solidFill>
              </a:rPr>
              <a:t>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01784" y="3520440"/>
            <a:ext cx="132588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E7EEF7"/>
                </a:solidFill>
              </a:rPr>
              <a:t>Collect the final artifacts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823960" y="1097280"/>
            <a:ext cx="2743200" cy="4937760"/>
          </a:xfrm>
          <a:prstGeom prst="roundRect">
            <a:avLst/>
          </a:prstGeom>
          <a:solidFill>
            <a:srgbClr val="1B263B"/>
          </a:solidFill>
          <a:ln>
            <a:solidFill>
              <a:srgbClr val="415A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98280" y="1325880"/>
            <a:ext cx="2194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500">
                <a:solidFill>
                  <a:srgbClr val="E6BE5A"/>
                </a:solidFill>
              </a:rPr>
              <a:t>Operator Tips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98280" y="1737360"/>
            <a:ext cx="2148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E7EEF7"/>
                </a:solidFill>
                <a:latin typeface="Aptos"/>
              </a:rPr>
              <a:t>This sequence aligns with the repo runbook and keeps failures visible early.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" y="6446520"/>
            <a:ext cx="6949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E8EEF4"/>
                </a:solidFill>
              </a:rPr>
              <a:t>PSUB | Operator Guide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E8EEF4"/>
                </a:solidFill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